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63" r:id="rId9"/>
    <p:sldId id="264" r:id="rId10"/>
    <p:sldId id="267" r:id="rId11"/>
    <p:sldId id="266" r:id="rId12"/>
    <p:sldId id="265" r:id="rId13"/>
    <p:sldId id="268" r:id="rId14"/>
  </p:sldIdLst>
  <p:sldSz cx="14630400" cy="8229600"/>
  <p:notesSz cx="8229600" cy="146304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356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4633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Food Trends: Understanding Customer Preferences Through Data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148138"/>
            <a:ext cx="75564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</a:rPr>
              <a:t>INFOSYS  SPRINGBOARD INTERNSHIP 6.0</a:t>
            </a:r>
            <a:endParaRPr lang="en-US" sz="3750" b="1" dirty="0"/>
          </a:p>
        </p:txBody>
      </p:sp>
      <p:sp>
        <p:nvSpPr>
          <p:cNvPr id="5" name="Text 2"/>
          <p:cNvSpPr/>
          <p:nvPr/>
        </p:nvSpPr>
        <p:spPr>
          <a:xfrm>
            <a:off x="793790" y="567916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Sam Joseph | </a:t>
            </a: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 - 1, Batch – 11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NityaShree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0445" y="837724"/>
            <a:ext cx="1101090" cy="361117"/>
          </a:xfrm>
          <a:prstGeom prst="roundRect">
            <a:avLst>
              <a:gd name="adj" fmla="val 18622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820460" y="897731"/>
            <a:ext cx="86106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0445" y="1269444"/>
            <a:ext cx="11450598" cy="656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00445" y="2491145"/>
            <a:ext cx="4292084" cy="2362676"/>
          </a:xfrm>
          <a:prstGeom prst="roundRect">
            <a:avLst>
              <a:gd name="adj" fmla="val 4644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45" y="2468285"/>
            <a:ext cx="4292084" cy="91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271" y="2190988"/>
            <a:ext cx="600313" cy="600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26293" y="2341007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23330" y="2991445"/>
            <a:ext cx="2733675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 Trend Analysis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923330" y="3425547"/>
            <a:ext cx="3846314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cuisine popularity, global reach, and restaurant chain dominance across various cities to pinpoint emerging trends.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5169098" y="2491145"/>
            <a:ext cx="4292084" cy="2362676"/>
          </a:xfrm>
          <a:prstGeom prst="roundRect">
            <a:avLst>
              <a:gd name="adj" fmla="val 4644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098" y="2468285"/>
            <a:ext cx="4292084" cy="9144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924" y="2190988"/>
            <a:ext cx="600313" cy="6003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94947" y="2341007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5391983" y="2991445"/>
            <a:ext cx="2626757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Sentiment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5391983" y="3425547"/>
            <a:ext cx="3846314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satisfaction and loyalty through rigorous analysis of ratings and voting patterns to understand the customer voice.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9637752" y="2491145"/>
            <a:ext cx="4292084" cy="2362676"/>
          </a:xfrm>
          <a:prstGeom prst="roundRect">
            <a:avLst>
              <a:gd name="adj" fmla="val 4644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52" y="2468285"/>
            <a:ext cx="4292084" cy="9144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3578" y="2190988"/>
            <a:ext cx="600313" cy="6003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663601" y="2341007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9860637" y="2991445"/>
            <a:ext cx="285452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Price-Value Correlation</a:t>
            </a:r>
            <a:endParaRPr lang="en-US" sz="2050" dirty="0"/>
          </a:p>
        </p:txBody>
      </p:sp>
      <p:sp>
        <p:nvSpPr>
          <p:cNvPr id="22" name="Text 14"/>
          <p:cNvSpPr/>
          <p:nvPr/>
        </p:nvSpPr>
        <p:spPr>
          <a:xfrm>
            <a:off x="9860637" y="3425547"/>
            <a:ext cx="3846314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how pricing models affect customer perception and behavioral trends, optimizing value for both customers and businesses.</a:t>
            </a:r>
            <a:endParaRPr lang="en-US" sz="1550" dirty="0"/>
          </a:p>
        </p:txBody>
      </p:sp>
      <p:sp>
        <p:nvSpPr>
          <p:cNvPr id="23" name="Shape 15"/>
          <p:cNvSpPr/>
          <p:nvPr/>
        </p:nvSpPr>
        <p:spPr>
          <a:xfrm>
            <a:off x="700445" y="5330547"/>
            <a:ext cx="6526411" cy="2061329"/>
          </a:xfrm>
          <a:prstGeom prst="roundRect">
            <a:avLst>
              <a:gd name="adj" fmla="val 532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45" y="5307687"/>
            <a:ext cx="6526411" cy="9144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434" y="5030391"/>
            <a:ext cx="600313" cy="60031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843457" y="5180409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850" dirty="0"/>
          </a:p>
        </p:txBody>
      </p:sp>
      <p:sp>
        <p:nvSpPr>
          <p:cNvPr id="27" name="Text 17"/>
          <p:cNvSpPr/>
          <p:nvPr/>
        </p:nvSpPr>
        <p:spPr>
          <a:xfrm>
            <a:off x="923330" y="5830848"/>
            <a:ext cx="2626757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Service Logistics</a:t>
            </a:r>
            <a:endParaRPr lang="en-US" sz="2050" dirty="0"/>
          </a:p>
        </p:txBody>
      </p:sp>
      <p:sp>
        <p:nvSpPr>
          <p:cNvPr id="28" name="Text 18"/>
          <p:cNvSpPr/>
          <p:nvPr/>
        </p:nvSpPr>
        <p:spPr>
          <a:xfrm>
            <a:off x="923330" y="6264950"/>
            <a:ext cx="6080641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Assessing the operational impact of online delivery availability versus table booking options to streamline service efficiency.</a:t>
            </a:r>
            <a:endParaRPr lang="en-US" sz="1550" dirty="0"/>
          </a:p>
        </p:txBody>
      </p:sp>
      <p:sp>
        <p:nvSpPr>
          <p:cNvPr id="29" name="Shape 19"/>
          <p:cNvSpPr/>
          <p:nvPr/>
        </p:nvSpPr>
        <p:spPr>
          <a:xfrm>
            <a:off x="7403425" y="5330547"/>
            <a:ext cx="6526411" cy="2061329"/>
          </a:xfrm>
          <a:prstGeom prst="roundRect">
            <a:avLst>
              <a:gd name="adj" fmla="val 532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425" y="5307687"/>
            <a:ext cx="6526411" cy="91440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415" y="5030391"/>
            <a:ext cx="600313" cy="600313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0546437" y="5180409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850" dirty="0"/>
          </a:p>
        </p:txBody>
      </p:sp>
      <p:sp>
        <p:nvSpPr>
          <p:cNvPr id="33" name="Text 21"/>
          <p:cNvSpPr/>
          <p:nvPr/>
        </p:nvSpPr>
        <p:spPr>
          <a:xfrm>
            <a:off x="7626310" y="5830848"/>
            <a:ext cx="273141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Optimization</a:t>
            </a:r>
            <a:endParaRPr lang="en-US" sz="2050" dirty="0"/>
          </a:p>
        </p:txBody>
      </p:sp>
      <p:sp>
        <p:nvSpPr>
          <p:cNvPr id="34" name="Text 22"/>
          <p:cNvSpPr/>
          <p:nvPr/>
        </p:nvSpPr>
        <p:spPr>
          <a:xfrm>
            <a:off x="7626310" y="6264950"/>
            <a:ext cx="6080641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raw data into actionable recommendations to improve quality, reduce risk, and drive informed business decisions.</a:t>
            </a:r>
            <a:endParaRPr lang="en-US" sz="1550" dirty="0"/>
          </a:p>
        </p:txBody>
      </p:sp>
      <p:sp>
        <p:nvSpPr>
          <p:cNvPr id="35" name="Oval 34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1133832"/>
            <a:ext cx="991910" cy="303609"/>
          </a:xfrm>
          <a:prstGeom prst="roundRect">
            <a:avLst>
              <a:gd name="adj" fmla="val 19379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378982" y="1186339"/>
            <a:ext cx="781883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73969" y="1491496"/>
            <a:ext cx="8428315" cy="574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Overview: From Data to Decision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73969" y="2403991"/>
            <a:ext cx="2757845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Scope of Analysis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273969" y="2883813"/>
            <a:ext cx="3951089" cy="1737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project involved a comprehensive examination of global market patterns, exploring the intricate relationships between cuisine demand, pricing strategies, and service availability across various regions. We aimed to provide a holistic view of the food industry landscape.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73969" y="4756666"/>
            <a:ext cx="2757845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273969" y="5236488"/>
            <a:ext cx="3951089" cy="1737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utilized interactive Power BI dashboards to convert complex, raw restaurant data into compelling visual narratives. This approach empowered stakeholders to effortlessly glean insights and make evidence-based decisions, moving beyond intuition to data-driven strategy.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874" y="2499479"/>
            <a:ext cx="7703939" cy="436554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9549" y="814626"/>
            <a:ext cx="699135" cy="195620"/>
          </a:xfrm>
          <a:prstGeom prst="roundRect">
            <a:avLst>
              <a:gd name="adj" fmla="val 21187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3133487" y="851535"/>
            <a:ext cx="551259" cy="12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59549" y="1037034"/>
            <a:ext cx="7235428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Visualizations &amp; Analytical Tools in Power BI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059549" y="1542455"/>
            <a:ext cx="8511183" cy="152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dashboards leverage a diverse set of visualization techniques to ensure clarity and actionable insights from complex datasets.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549" y="1770102"/>
            <a:ext cx="2064901" cy="2064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59549" y="3902035"/>
            <a:ext cx="161889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Bar Charts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23633" y="4249101"/>
            <a:ext cx="2100817" cy="43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comparing restaurant density, cuisine variety, and city-wise performance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270" y="1770102"/>
            <a:ext cx="2064901" cy="20649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75276" y="3835002"/>
            <a:ext cx="196301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Donut Chart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208270" y="4144685"/>
            <a:ext cx="2064901" cy="456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Visualized the distribution of rated vs. unrated venues and online delivery penetration.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991" y="1770102"/>
            <a:ext cx="2064901" cy="20649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63032" y="3934279"/>
            <a:ext cx="1958860" cy="15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</a:t>
            </a: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catter Plots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56991" y="4261664"/>
            <a:ext cx="2064901" cy="456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Mapped the correlation between total votes and average ratings to detect anomalies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5712" y="1770102"/>
            <a:ext cx="2065020" cy="20650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05712" y="3952158"/>
            <a:ext cx="1618893" cy="15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Line Charts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9421892" y="4261664"/>
            <a:ext cx="2065020" cy="456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rating stability across different vote "buckets" for reliability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3633" y="5147667"/>
            <a:ext cx="2064901" cy="206490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059548" y="7212568"/>
            <a:ext cx="161889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Tabular Data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3059549" y="7456423"/>
            <a:ext cx="2064901" cy="30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Provided granular, restaurant-level details for drill-down analysis.</a:t>
            </a:r>
            <a:endParaRPr lang="en-US" sz="950" dirty="0"/>
          </a:p>
        </p:txBody>
      </p:sp>
      <p:sp>
        <p:nvSpPr>
          <p:cNvPr id="21" name="Oval 20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572458"/>
            <a:ext cx="640437" cy="176689"/>
          </a:xfrm>
          <a:prstGeom prst="roundRect">
            <a:avLst>
              <a:gd name="adj" fmla="val 21567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3470434" y="1606391"/>
            <a:ext cx="504468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1771769"/>
            <a:ext cx="46702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&amp; Innovative Solutions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02449" y="222885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Facing common data analysis hurdles, we implemented creative solutions to ensure accuracy and usability of our Power BI dashboards.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07580" y="2428637"/>
            <a:ext cx="15240" cy="4228386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7" name="Shape 5"/>
          <p:cNvSpPr/>
          <p:nvPr/>
        </p:nvSpPr>
        <p:spPr>
          <a:xfrm>
            <a:off x="3387209" y="2428637"/>
            <a:ext cx="3912751" cy="1040130"/>
          </a:xfrm>
          <a:prstGeom prst="roundRect">
            <a:avLst>
              <a:gd name="adj" fmla="val 458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1653" y="2549604"/>
            <a:ext cx="2534960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Normalizing Costs Across Currencies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08177" y="2769513"/>
            <a:ext cx="3678436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Varied international currencies presented a challenge in standardizing financial data.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08177" y="3075623"/>
            <a:ext cx="3678436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Implemented interactive slicers, allowing dynamic currency conversion and viewing for global comparison.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30440" y="3582114"/>
            <a:ext cx="3912751" cy="1040130"/>
          </a:xfrm>
          <a:prstGeom prst="rect">
            <a:avLst/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43788" y="3703082"/>
            <a:ext cx="2986445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Meaningful Segmentation for Votes/Ratings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43788" y="3922990"/>
            <a:ext cx="367843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Raw ratings data lacked context for deeper analysis.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43788" y="4093012"/>
            <a:ext cx="367843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Applied advanced DAX logic to categorize data into structured "buckets" (e.g., highly rated, moderately rated) for clearer insights.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87209" y="4735592"/>
            <a:ext cx="3912751" cy="904042"/>
          </a:xfrm>
          <a:prstGeom prst="roundRect">
            <a:avLst>
              <a:gd name="adj" fmla="val 52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8010" y="4856559"/>
            <a:ext cx="3108603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Ensuring Dashboard Uniqueness &amp; Relevance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08177" y="5076468"/>
            <a:ext cx="367843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Avoiding redundant or generic dashboard views.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08177" y="5246489"/>
            <a:ext cx="3678436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view was meticulously designed with a specific, distinct business objective, maximizing relevance and actionability.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30440" y="5752981"/>
            <a:ext cx="3912751" cy="904042"/>
          </a:xfrm>
          <a:prstGeom prst="rect">
            <a:avLst/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3788" y="5873948"/>
            <a:ext cx="1609487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Preventing Data Clutter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43788" y="6093857"/>
            <a:ext cx="367843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Overwhelming users with too much information.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43788" y="6263878"/>
            <a:ext cx="3678436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Prioritized storytelling and key metrics over raw number dumps, focusing on digestible, impactful insights.</a:t>
            </a:r>
            <a:endParaRPr lang="en-US" sz="850" dirty="0"/>
          </a:p>
        </p:txBody>
      </p:sp>
      <p:sp>
        <p:nvSpPr>
          <p:cNvPr id="23" name="Oval 22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997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9849" y="3175754"/>
            <a:ext cx="1134308" cy="360640"/>
          </a:xfrm>
          <a:prstGeom prst="roundRect">
            <a:avLst>
              <a:gd name="adj" fmla="val 18632"/>
            </a:avLst>
          </a:prstGeom>
          <a:solidFill>
            <a:srgbClr val="1C113B"/>
          </a:solidFill>
          <a:ln/>
        </p:spPr>
      </p:sp>
      <p:sp>
        <p:nvSpPr>
          <p:cNvPr id="4" name="Text 1"/>
          <p:cNvSpPr/>
          <p:nvPr/>
        </p:nvSpPr>
        <p:spPr>
          <a:xfrm>
            <a:off x="819745" y="3235643"/>
            <a:ext cx="894517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9849" y="3606879"/>
            <a:ext cx="8681204" cy="656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Skills Acquired &amp; Applied</a:t>
            </a:r>
            <a:endParaRPr lang="en-US" sz="4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49" y="4633734"/>
            <a:ext cx="99893" cy="998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5955" y="4527471"/>
            <a:ext cx="262461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Engineering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75955" y="4961215"/>
            <a:ext cx="6228993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Mastery of Power Query for efficient data sourcing, cleaning, and Extract, Transform, Load (ETL) processes, ensuring data integrity.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333" y="4633734"/>
            <a:ext cx="99893" cy="998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01439" y="4527471"/>
            <a:ext cx="262461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Analytics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701439" y="4961215"/>
            <a:ext cx="6229112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Proficiently utilizing DAX (Data Analysis Expressions) for creating complex calculated measures and columns, deriving deeper insights.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49" y="6322993"/>
            <a:ext cx="99893" cy="998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5955" y="6216729"/>
            <a:ext cx="262461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UX/UI Design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975955" y="6650474"/>
            <a:ext cx="6228993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intuitive and interactive Power BI dashboards featuring cross-filtering, slicers, and drill-down capabilities for enhanced user experience.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333" y="6322993"/>
            <a:ext cx="99893" cy="9989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01439" y="6216729"/>
            <a:ext cx="262461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Analysis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7701439" y="6650474"/>
            <a:ext cx="6229112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robust frameworks for risk detection, understanding consumer behavior interpretation, and informing strategic business decisions.</a:t>
            </a:r>
            <a:endParaRPr lang="en-US" sz="1550" dirty="0"/>
          </a:p>
        </p:txBody>
      </p:sp>
      <p:sp>
        <p:nvSpPr>
          <p:cNvPr id="18" name="Oval 17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17C8C8-486D-4F1F-A6BE-3C3811AC439E}"/>
              </a:ext>
            </a:extLst>
          </p:cNvPr>
          <p:cNvSpPr/>
          <p:nvPr/>
        </p:nvSpPr>
        <p:spPr>
          <a:xfrm>
            <a:off x="4233349" y="766467"/>
            <a:ext cx="5750037" cy="620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3794"/>
              </a:lnSpc>
            </a:pPr>
            <a:r>
              <a:rPr lang="en-US" sz="5400" b="1" kern="0" spc="36" dirty="0">
                <a:solidFill>
                  <a:srgbClr val="7030A0"/>
                </a:solidFill>
                <a:latin typeface="Times New Roman" panose="02020603050405020304" pitchFamily="18" charset="0"/>
                <a:ea typeface="Poppins Regular" pitchFamily="34" charset="-122"/>
                <a:cs typeface="Times New Roman" panose="02020603050405020304" pitchFamily="18" charset="0"/>
              </a:rPr>
              <a:t>Project Milestones</a:t>
            </a:r>
            <a:endParaRPr lang="en-US" sz="5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330381-E355-4E79-88D1-2A41D08643E5}"/>
              </a:ext>
            </a:extLst>
          </p:cNvPr>
          <p:cNvSpPr/>
          <p:nvPr/>
        </p:nvSpPr>
        <p:spPr>
          <a:xfrm>
            <a:off x="1004412" y="2442912"/>
            <a:ext cx="2390533" cy="337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814"/>
              </a:lnSpc>
            </a:pPr>
            <a:r>
              <a:rPr lang="en-US" sz="2400" dirty="0">
                <a:solidFill>
                  <a:srgbClr val="F5F6F2"/>
                </a:solidFill>
                <a:latin typeface="Times New Roman" panose="02020603050405020304" pitchFamily="18" charset="0"/>
                <a:ea typeface="Space Mono Regular" pitchFamily="34" charset="-122"/>
                <a:cs typeface="Times New Roman" panose="02020603050405020304" pitchFamily="18" charset="0"/>
              </a:rPr>
              <a:t>Milestone 1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E1FD81-EDD9-4A4B-AF14-4A0C1744F131}"/>
              </a:ext>
            </a:extLst>
          </p:cNvPr>
          <p:cNvSpPr/>
          <p:nvPr/>
        </p:nvSpPr>
        <p:spPr>
          <a:xfrm>
            <a:off x="930138" y="2727754"/>
            <a:ext cx="3572259" cy="31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680"/>
              </a:lnSpc>
              <a:spcBef>
                <a:spcPts val="668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ea typeface="Space Mono Regular" pitchFamily="34" charset="-122"/>
                <a:cs typeface="Times New Roman" panose="02020603050405020304" pitchFamily="18" charset="0"/>
              </a:rPr>
              <a:t>Data Collection &amp; Understanding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756F8A-8D54-4D8F-9ADA-0F21C46574F1}"/>
              </a:ext>
            </a:extLst>
          </p:cNvPr>
          <p:cNvSpPr/>
          <p:nvPr/>
        </p:nvSpPr>
        <p:spPr>
          <a:xfrm>
            <a:off x="930138" y="3070843"/>
            <a:ext cx="26959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prstClr val="white"/>
                </a:solidFill>
                <a:latin typeface="Arial"/>
                <a:cs typeface="Arial"/>
              </a:rPr>
              <a:t>Collected Zomato Restaurants Dataset from Kaggle Studied dataset structure, features, and data quality Dashboard 1: Dataset overview &amp; basic statistics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EB701F-11B8-41BC-AE5E-49EC1DA3AB91}"/>
              </a:ext>
            </a:extLst>
          </p:cNvPr>
          <p:cNvSpPr/>
          <p:nvPr/>
        </p:nvSpPr>
        <p:spPr>
          <a:xfrm>
            <a:off x="4141304" y="2390161"/>
            <a:ext cx="2390533" cy="337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814"/>
              </a:lnSpc>
            </a:pPr>
            <a:r>
              <a:rPr lang="en-US" sz="2400" dirty="0">
                <a:solidFill>
                  <a:srgbClr val="F5F6F2"/>
                </a:solidFill>
                <a:latin typeface="Times New Roman" panose="02020603050405020304" pitchFamily="18" charset="0"/>
                <a:ea typeface="Space Mono Regular" pitchFamily="34" charset="-122"/>
                <a:cs typeface="Times New Roman" panose="02020603050405020304" pitchFamily="18" charset="0"/>
              </a:rPr>
              <a:t>Milestone 2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98DF0-B8CF-4086-988E-F63852D7595E}"/>
              </a:ext>
            </a:extLst>
          </p:cNvPr>
          <p:cNvSpPr/>
          <p:nvPr/>
        </p:nvSpPr>
        <p:spPr>
          <a:xfrm>
            <a:off x="7492811" y="2692119"/>
            <a:ext cx="3182794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1680"/>
              </a:lnSpc>
              <a:spcBef>
                <a:spcPts val="668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ea typeface="Space Mono Regular" pitchFamily="34" charset="-122"/>
                <a:cs typeface="Times New Roman" panose="02020603050405020304" pitchFamily="18" charset="0"/>
              </a:rPr>
              <a:t>Visualization &amp; Dashboard Creation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6F0FE-0FF1-40F5-9457-B04F1B1A562E}"/>
              </a:ext>
            </a:extLst>
          </p:cNvPr>
          <p:cNvSpPr/>
          <p:nvPr/>
        </p:nvSpPr>
        <p:spPr>
          <a:xfrm>
            <a:off x="7505583" y="3024676"/>
            <a:ext cx="335617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  <a:latin typeface="Arial"/>
                <a:cs typeface="Arial"/>
              </a:rPr>
              <a:t>Analyzed ratings, cuisines, cost, and delivery options Identified patterns using charts and filters Dashboards 4–6: Ratings analysis, cuisine trends, cost vs rating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CF2E35-E3D2-4D0B-B60D-EC05186956CF}"/>
              </a:ext>
            </a:extLst>
          </p:cNvPr>
          <p:cNvSpPr/>
          <p:nvPr/>
        </p:nvSpPr>
        <p:spPr>
          <a:xfrm>
            <a:off x="7538668" y="2380447"/>
            <a:ext cx="1645002" cy="3375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1814"/>
              </a:lnSpc>
            </a:pPr>
            <a:r>
              <a:rPr lang="en-US" sz="2400" dirty="0">
                <a:solidFill>
                  <a:srgbClr val="F5F6F2"/>
                </a:solidFill>
                <a:latin typeface="Times New Roman" panose="02020603050405020304" pitchFamily="18" charset="0"/>
                <a:ea typeface="Space Mono Regular" pitchFamily="34" charset="-122"/>
                <a:cs typeface="Times New Roman" panose="02020603050405020304" pitchFamily="18" charset="0"/>
              </a:rPr>
              <a:t>Milestone 3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5FEEEA-894C-48EE-9951-F665B5F3A151}"/>
              </a:ext>
            </a:extLst>
          </p:cNvPr>
          <p:cNvSpPr/>
          <p:nvPr/>
        </p:nvSpPr>
        <p:spPr>
          <a:xfrm>
            <a:off x="4141304" y="2805715"/>
            <a:ext cx="3236912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1680"/>
              </a:lnSpc>
              <a:spcBef>
                <a:spcPts val="668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ea typeface="Space Mono Regular" pitchFamily="34" charset="-122"/>
                <a:cs typeface="Times New Roman" panose="02020603050405020304" pitchFamily="18" charset="0"/>
              </a:rPr>
              <a:t>Data Analysis &amp; Trend Identification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37DAD2-EB35-44A6-BBDA-BFDA9AD4CFCB}"/>
              </a:ext>
            </a:extLst>
          </p:cNvPr>
          <p:cNvSpPr/>
          <p:nvPr/>
        </p:nvSpPr>
        <p:spPr>
          <a:xfrm>
            <a:off x="4141304" y="3178564"/>
            <a:ext cx="29216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prstClr val="white"/>
                </a:solidFill>
                <a:latin typeface="Arial"/>
                <a:cs typeface="Arial"/>
              </a:rPr>
              <a:t>Handled missing and inconsistent values Standardized cuisine, rating, and cost fields Dashboards 2–3: Cleaned data validation &amp; category distribution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8BAD4B5-E4CC-4DFD-87C8-28F54F7E3F04}"/>
              </a:ext>
            </a:extLst>
          </p:cNvPr>
          <p:cNvSpPr/>
          <p:nvPr/>
        </p:nvSpPr>
        <p:spPr>
          <a:xfrm>
            <a:off x="11145422" y="2419789"/>
            <a:ext cx="3145036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sz="2400" dirty="0">
                <a:solidFill>
                  <a:srgbClr val="F5F6F2"/>
                </a:solidFill>
                <a:latin typeface="Times New Roman" panose="02020603050405020304" pitchFamily="18" charset="0"/>
                <a:ea typeface="Space Mono Regular" pitchFamily="34" charset="-122"/>
                <a:cs typeface="Times New Roman" panose="02020603050405020304" pitchFamily="18" charset="0"/>
              </a:rPr>
              <a:t>Milestone 4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1B6954-4BA0-48C5-9E56-134F07C6EB8A}"/>
              </a:ext>
            </a:extLst>
          </p:cNvPr>
          <p:cNvSpPr/>
          <p:nvPr/>
        </p:nvSpPr>
        <p:spPr>
          <a:xfrm>
            <a:off x="11057195" y="2711770"/>
            <a:ext cx="2630848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1680"/>
              </a:lnSpc>
              <a:spcBef>
                <a:spcPts val="668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ea typeface="Space Mono Regular"/>
                <a:cs typeface="Times New Roman" panose="02020603050405020304" pitchFamily="18" charset="0"/>
              </a:rPr>
              <a:t>Insights &amp; Recommendations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ea typeface="Space Mono Regular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08C4B9-2F43-4147-8CA0-1607E7E2C6D4}"/>
              </a:ext>
            </a:extLst>
          </p:cNvPr>
          <p:cNvSpPr/>
          <p:nvPr/>
        </p:nvSpPr>
        <p:spPr>
          <a:xfrm>
            <a:off x="11069414" y="3145302"/>
            <a:ext cx="314503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prstClr val="white"/>
                </a:solidFill>
                <a:latin typeface="Arial"/>
                <a:cs typeface="Arial"/>
              </a:rPr>
              <a:t>Extracted key insights from dashboards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prstClr val="white"/>
                </a:solidFill>
                <a:latin typeface="Arial"/>
                <a:cs typeface="Arial"/>
              </a:rPr>
              <a:t>Prepared conclusions and project documentation Dashboard 7: Final insights &amp; summary dashboard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F6B84B-ADF5-49C2-95EC-F85D8F56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1743" y="7266349"/>
            <a:ext cx="1932599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36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89184"/>
            <a:ext cx="1276707" cy="426244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57168"/>
            <a:ext cx="10045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06153"/>
            <a:ext cx="1287899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Insights Discovered: What the Data Tells Us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793790" y="2690574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690574"/>
            <a:ext cx="121920" cy="21114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29478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Reliability Metric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142524" y="3456027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Restaurants with higher vote volumes consistently display significantly more stable and reliable ratings, indicating established customer trust.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690574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690574"/>
            <a:ext cx="121920" cy="21114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7282" y="2947868"/>
            <a:ext cx="33613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Premium Advantage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777282" y="3456027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Higher-priced establishments consistently secure better customer ratings, suggesting a strong positive correlation between price and perceived quality.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028843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5028843"/>
            <a:ext cx="121920" cy="21114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2524" y="52861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Reach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1142524" y="5794296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availability of online delivery services is a primary driver for increased customer engagement and broader accessibility, expanding market reach.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7428548" y="5028843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5028843"/>
            <a:ext cx="121920" cy="211145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7282" y="52861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Visibility Gap</a:t>
            </a:r>
            <a:endParaRPr lang="en-US" sz="2300" dirty="0"/>
          </a:p>
        </p:txBody>
      </p:sp>
      <p:sp>
        <p:nvSpPr>
          <p:cNvPr id="20" name="Text 14"/>
          <p:cNvSpPr/>
          <p:nvPr/>
        </p:nvSpPr>
        <p:spPr>
          <a:xfrm>
            <a:off x="7777282" y="5794296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notable segment of high-quality restaurants suffers from low visibility, presenting a clear and actionable marketing opportunity for targeted promotion.</a:t>
            </a:r>
            <a:endParaRPr lang="en-US" sz="1750" dirty="0"/>
          </a:p>
        </p:txBody>
      </p:sp>
      <p:sp>
        <p:nvSpPr>
          <p:cNvPr id="21" name="Oval 20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75497" y="1537335"/>
            <a:ext cx="861417" cy="253127"/>
          </a:xfrm>
          <a:prstGeom prst="roundRect">
            <a:avLst>
              <a:gd name="adj" fmla="val 2016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2166580" y="1582817"/>
            <a:ext cx="679252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075497" y="1831062"/>
            <a:ext cx="9885283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 &amp; Conclusion: Beyond the Dashboard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497" y="2693789"/>
            <a:ext cx="6681787" cy="3786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35428" y="2583537"/>
            <a:ext cx="239196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Directions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35428" y="2984183"/>
            <a:ext cx="3426857" cy="209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Mining: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Implementing Natural Language Processing (NLP) to extract emotional context from textual customer reviews.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Analysis: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Studying seasonal trends and time-series data to predict peak times and shifting food preferences.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Analytics:</a:t>
            </a: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Deploying machine learning algorithms to forecast future restaurant performance and market shifts.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35428" y="5185648"/>
            <a:ext cx="239196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Impact Summary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35428" y="5586293"/>
            <a:ext cx="3426857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successfully transforms raw data into a 360-degree view of market dynamics, identifying clear growth opportunities and robust risk mitigation strategies for the food industry.</a:t>
            </a:r>
            <a:endParaRPr lang="en-US" sz="1150" dirty="0"/>
          </a:p>
        </p:txBody>
      </p:sp>
      <p:sp>
        <p:nvSpPr>
          <p:cNvPr id="10" name="Oval 9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8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AB5DE2-BE3C-485D-9D08-B9B463A6F6C9}"/>
              </a:ext>
            </a:extLst>
          </p:cNvPr>
          <p:cNvSpPr/>
          <p:nvPr/>
        </p:nvSpPr>
        <p:spPr>
          <a:xfrm>
            <a:off x="1174531" y="3283803"/>
            <a:ext cx="36103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Data</a:t>
            </a:r>
            <a:b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454B3-ED71-452E-B1C2-A893802AB83E}"/>
              </a:ext>
            </a:extLst>
          </p:cNvPr>
          <p:cNvSpPr/>
          <p:nvPr/>
        </p:nvSpPr>
        <p:spPr>
          <a:xfrm>
            <a:off x="1127234" y="4157687"/>
            <a:ext cx="36103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Incorporate real-time data feeds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from various channels to capture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evolving customer preferences and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trends in a timely manner.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55DAE0-DBDD-4560-999C-467AB465F8F4}"/>
              </a:ext>
            </a:extLst>
          </p:cNvPr>
          <p:cNvSpPr/>
          <p:nvPr/>
        </p:nvSpPr>
        <p:spPr>
          <a:xfrm>
            <a:off x="4934607" y="3283803"/>
            <a:ext cx="73152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Analytics &amp;</a:t>
            </a:r>
            <a:b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FA126B-186B-4D31-B40C-18449BF57A2B}"/>
              </a:ext>
            </a:extLst>
          </p:cNvPr>
          <p:cNvSpPr/>
          <p:nvPr/>
        </p:nvSpPr>
        <p:spPr>
          <a:xfrm>
            <a:off x="4784834" y="4007777"/>
            <a:ext cx="73152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models and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techniques to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uncover deeper insights and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patterns from the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892471-7C80-4688-A49E-25045C239599}"/>
              </a:ext>
            </a:extLst>
          </p:cNvPr>
          <p:cNvSpPr/>
          <p:nvPr/>
        </p:nvSpPr>
        <p:spPr>
          <a:xfrm>
            <a:off x="8711397" y="3363696"/>
            <a:ext cx="2735557" cy="412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5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Time-Based Trends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51407A-0571-42E0-8E9E-4C6BD11AEC07}"/>
              </a:ext>
            </a:extLst>
          </p:cNvPr>
          <p:cNvSpPr/>
          <p:nvPr/>
        </p:nvSpPr>
        <p:spPr>
          <a:xfrm>
            <a:off x="8592207" y="3884282"/>
            <a:ext cx="4398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seasonal and temporal patterns in food preferences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F4A64F-E2D7-44A1-B9EC-119733071904}"/>
              </a:ext>
            </a:extLst>
          </p:cNvPr>
          <p:cNvSpPr/>
          <p:nvPr/>
        </p:nvSpPr>
        <p:spPr>
          <a:xfrm>
            <a:off x="3786055" y="1454948"/>
            <a:ext cx="56599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36C367-A37B-48E2-9817-933664D6C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0476" y="7324603"/>
            <a:ext cx="1889924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47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4C15B6-4D94-4E7F-B835-99E0E06CC304}"/>
              </a:ext>
            </a:extLst>
          </p:cNvPr>
          <p:cNvSpPr/>
          <p:nvPr/>
        </p:nvSpPr>
        <p:spPr>
          <a:xfrm>
            <a:off x="3184634" y="2270234"/>
            <a:ext cx="7788166" cy="327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Infosys_Food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Trends project leveraged large-scale restaurant datasets to decode complex consumer behaviors. By implementing rigorous data preprocessing and exploratory data analysis (EDA), I identified critical trends in cuisine demand, pricing elasticity, and geographic market shifts. The resulting interactive dashboards provide a strategic framework for data-driven decision-making, enabling stakeholders to optimize service offerings based on quality, affordability, and logistics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603846-4514-4E03-98E1-0A6AA00A9274}"/>
              </a:ext>
            </a:extLst>
          </p:cNvPr>
          <p:cNvSpPr/>
          <p:nvPr/>
        </p:nvSpPr>
        <p:spPr>
          <a:xfrm>
            <a:off x="4619296" y="1361429"/>
            <a:ext cx="46312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C10FAC"/>
                </a:solidFill>
                <a:latin typeface="Petrona Bold"/>
              </a:rPr>
              <a:t>CONCLUSION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D8C09F-7DE3-4B70-BA33-C4A7C6039A31}"/>
              </a:ext>
            </a:extLst>
          </p:cNvPr>
          <p:cNvSpPr/>
          <p:nvPr/>
        </p:nvSpPr>
        <p:spPr>
          <a:xfrm>
            <a:off x="12754303" y="7346731"/>
            <a:ext cx="1876097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9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D2A12-CF1F-4477-BADD-9D404E1AA72E}"/>
              </a:ext>
            </a:extLst>
          </p:cNvPr>
          <p:cNvSpPr txBox="1"/>
          <p:nvPr/>
        </p:nvSpPr>
        <p:spPr>
          <a:xfrm>
            <a:off x="13542579" y="7434599"/>
            <a:ext cx="77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19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76444"/>
            <a:ext cx="1286589" cy="426244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44429"/>
            <a:ext cx="10144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9341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Acknowledgements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26778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gratitude to those who supported and guided this insightful internship journey.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95888"/>
            <a:ext cx="566976" cy="56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4253" y="3295888"/>
            <a:ext cx="35678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Infosys Springboard Team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644253" y="380404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providing an invaluable platform and professional growth opportunity.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295888"/>
            <a:ext cx="566976" cy="566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07348" y="32958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 err="1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NityaShree</a:t>
            </a: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J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8307348" y="380404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expert guidance, constructive feedback, and dedicated technical mentorship.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83480"/>
            <a:ext cx="566976" cy="566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4253" y="498348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C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1644253" y="5491639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983480"/>
            <a:ext cx="566976" cy="5669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07348" y="498348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2300" dirty="0"/>
          </a:p>
        </p:txBody>
      </p:sp>
      <p:sp>
        <p:nvSpPr>
          <p:cNvPr id="17" name="Text 11"/>
          <p:cNvSpPr/>
          <p:nvPr/>
        </p:nvSpPr>
        <p:spPr>
          <a:xfrm>
            <a:off x="8307348" y="5491639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Power BI Documentation, </a:t>
            </a:r>
            <a:r>
              <a:rPr lang="en-US" sz="1750" dirty="0" err="1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1198179" y="6557605"/>
            <a:ext cx="435894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.</a:t>
            </a:r>
            <a:endParaRPr lang="en-US" sz="3750" dirty="0"/>
          </a:p>
        </p:txBody>
      </p:sp>
      <p:sp>
        <p:nvSpPr>
          <p:cNvPr id="19" name="Oval 18"/>
          <p:cNvSpPr/>
          <p:nvPr/>
        </p:nvSpPr>
        <p:spPr>
          <a:xfrm>
            <a:off x="12744424" y="7286656"/>
            <a:ext cx="1925053" cy="94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10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1F6D01-6D5D-4AAB-8EAE-7DB39FD65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385" y="2637476"/>
            <a:ext cx="7077629" cy="247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5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1134</Words>
  <Application>Microsoft Office PowerPoint</Application>
  <PresentationFormat>Custom</PresentationFormat>
  <Paragraphs>136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Petrona Bold</vt:lpstr>
      <vt:lpstr>Times New Roman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sam joseph</cp:lastModifiedBy>
  <cp:revision>6</cp:revision>
  <dcterms:created xsi:type="dcterms:W3CDTF">2026-02-17T10:55:57Z</dcterms:created>
  <dcterms:modified xsi:type="dcterms:W3CDTF">2026-02-21T15:35:24Z</dcterms:modified>
</cp:coreProperties>
</file>