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3" r:id="rId7"/>
    <p:sldId id="264" r:id="rId8"/>
    <p:sldId id="265" r:id="rId9"/>
    <p:sldId id="266" r:id="rId10"/>
    <p:sldId id="270" r:id="rId11"/>
    <p:sldId id="267" r:id="rId12"/>
    <p:sldId id="268" r:id="rId13"/>
    <p:sldId id="269" r:id="rId14"/>
  </p:sldIdLst>
  <p:sldSz cx="18288000" cy="10287000"/>
  <p:notesSz cx="6858000" cy="9144000"/>
  <p:embeddedFontLst>
    <p:embeddedFont>
      <p:font typeface="Merriweather" panose="00000500000000000000" pitchFamily="2" charset="0"/>
      <p:regular r:id="rId16"/>
      <p:bold r:id="rId17"/>
      <p:italic r:id="rId18"/>
    </p:embeddedFont>
    <p:embeddedFont>
      <p:font typeface="Merriweather Bold" panose="00000800000000000000"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E6FE1-FCA8-502B-A2D9-B95ADF6B84B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E29589-BECD-A4EA-6E5B-D213F7A7125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921FC26-BBDE-5C6B-D6E9-A76FD46488A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2E39512-92A6-3367-C10C-13156F81580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68161B9-4348-EE86-3F29-7F6DAF4D93B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a:extLst>
              <a:ext uri="{FF2B5EF4-FFF2-40B4-BE49-F238E27FC236}">
                <a16:creationId xmlns:a16="http://schemas.microsoft.com/office/drawing/2014/main" id="{220C13EA-8DB8-CF7E-893A-1607F4EE8A6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42A0F96-F822-7785-48CD-896CB9EAEA9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71352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270315"/>
            <a:ext cx="22407100" cy="10585921"/>
            <a:chOff x="0" y="0"/>
            <a:chExt cx="29876133" cy="14114562"/>
          </a:xfrm>
        </p:grpSpPr>
        <p:sp>
          <p:nvSpPr>
            <p:cNvPr id="5" name="Freeform 5"/>
            <p:cNvSpPr/>
            <p:nvPr/>
          </p:nvSpPr>
          <p:spPr>
            <a:xfrm>
              <a:off x="0" y="0"/>
              <a:ext cx="29876133" cy="14114562"/>
            </a:xfrm>
            <a:custGeom>
              <a:avLst/>
              <a:gdLst/>
              <a:ahLst/>
              <a:cxnLst/>
              <a:rect l="l" t="t" r="r" b="b"/>
              <a:pathLst>
                <a:path w="29876133" h="14114562">
                  <a:moveTo>
                    <a:pt x="0" y="0"/>
                  </a:moveTo>
                  <a:lnTo>
                    <a:pt x="29876133" y="0"/>
                  </a:lnTo>
                  <a:lnTo>
                    <a:pt x="29876133" y="14114562"/>
                  </a:lnTo>
                  <a:lnTo>
                    <a:pt x="0" y="14114562"/>
                  </a:lnTo>
                  <a:close/>
                </a:path>
              </a:pathLst>
            </a:custGeom>
            <a:solidFill>
              <a:srgbClr val="09151A">
                <a:alpha val="90196"/>
              </a:srgbClr>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p:nvPr/>
        </p:nvGrpSpPr>
        <p:grpSpPr>
          <a:xfrm>
            <a:off x="11345486" y="-6996"/>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1063076" y="812597"/>
            <a:ext cx="9303839" cy="1927022"/>
          </a:xfrm>
          <a:prstGeom prst="rect">
            <a:avLst/>
          </a:prstGeom>
        </p:spPr>
        <p:txBody>
          <a:bodyPr lIns="0" tIns="0" rIns="0" bIns="0" rtlCol="0" anchor="t">
            <a:spAutoFit/>
          </a:bodyPr>
          <a:lstStyle/>
          <a:p>
            <a:pPr algn="l">
              <a:lnSpc>
                <a:spcPts val="7437"/>
              </a:lnSpc>
            </a:pPr>
            <a:r>
              <a:rPr lang="en-US" sz="5937">
                <a:solidFill>
                  <a:srgbClr val="F5F0F0"/>
                </a:solidFill>
                <a:latin typeface="Merriweather"/>
                <a:ea typeface="Merriweather"/>
                <a:cs typeface="Merriweather"/>
                <a:sym typeface="Merriweather"/>
              </a:rPr>
              <a:t>Infosys Springboard Virtual Internship 6.0</a:t>
            </a:r>
          </a:p>
        </p:txBody>
      </p:sp>
      <p:sp>
        <p:nvSpPr>
          <p:cNvPr id="11" name="TextBox 11"/>
          <p:cNvSpPr txBox="1"/>
          <p:nvPr/>
        </p:nvSpPr>
        <p:spPr>
          <a:xfrm>
            <a:off x="1063076" y="3159623"/>
            <a:ext cx="9762185" cy="3654718"/>
          </a:xfrm>
          <a:prstGeom prst="rect">
            <a:avLst/>
          </a:prstGeom>
        </p:spPr>
        <p:txBody>
          <a:bodyPr lIns="0" tIns="0" rIns="0" bIns="0" rtlCol="0" anchor="t">
            <a:spAutoFit/>
          </a:bodyPr>
          <a:lstStyle/>
          <a:p>
            <a:pPr algn="l">
              <a:lnSpc>
                <a:spcPts val="7187"/>
              </a:lnSpc>
            </a:pPr>
            <a:r>
              <a:rPr lang="en-US" sz="5750" dirty="0">
                <a:solidFill>
                  <a:srgbClr val="F5F0F0"/>
                </a:solidFill>
                <a:latin typeface="Merriweather"/>
                <a:ea typeface="Merriweather"/>
                <a:cs typeface="Merriweather"/>
                <a:sym typeface="Merriweather"/>
              </a:rPr>
              <a:t>Food Trends Understanding Using Customer Preferences</a:t>
            </a:r>
          </a:p>
          <a:p>
            <a:pPr algn="l">
              <a:lnSpc>
                <a:spcPts val="7187"/>
              </a:lnSpc>
            </a:pPr>
            <a:r>
              <a:rPr lang="en-US" sz="2400" dirty="0">
                <a:solidFill>
                  <a:srgbClr val="F5F0F0"/>
                </a:solidFill>
                <a:latin typeface="Merriweather"/>
                <a:ea typeface="Merriweather"/>
                <a:cs typeface="Merriweather"/>
                <a:sym typeface="Merriweather"/>
              </a:rPr>
              <a:t>GROUP 1 BATCH 11</a:t>
            </a:r>
          </a:p>
        </p:txBody>
      </p:sp>
      <p:sp>
        <p:nvSpPr>
          <p:cNvPr id="12" name="TextBox 12"/>
          <p:cNvSpPr txBox="1"/>
          <p:nvPr/>
        </p:nvSpPr>
        <p:spPr>
          <a:xfrm>
            <a:off x="1063075" y="7615795"/>
            <a:ext cx="5794925" cy="406330"/>
          </a:xfrm>
          <a:prstGeom prst="rect">
            <a:avLst/>
          </a:prstGeom>
        </p:spPr>
        <p:txBody>
          <a:bodyPr wrap="square" lIns="0" tIns="0" rIns="0" bIns="0" rtlCol="0" anchor="t">
            <a:spAutoFit/>
          </a:bodyPr>
          <a:lstStyle/>
          <a:p>
            <a:pPr algn="l">
              <a:lnSpc>
                <a:spcPts val="3316"/>
              </a:lnSpc>
            </a:pPr>
            <a:r>
              <a:rPr lang="en-US" sz="2662" dirty="0">
                <a:solidFill>
                  <a:srgbClr val="F5F0F0"/>
                </a:solidFill>
                <a:latin typeface="Merriweather"/>
                <a:ea typeface="Merriweather"/>
                <a:cs typeface="Merriweather"/>
                <a:sym typeface="Merriweather"/>
              </a:rPr>
              <a:t>       MENTOR NAME :NITHYA SREE </a:t>
            </a:r>
          </a:p>
        </p:txBody>
      </p:sp>
      <p:sp>
        <p:nvSpPr>
          <p:cNvPr id="13" name="TextBox 13"/>
          <p:cNvSpPr txBox="1"/>
          <p:nvPr/>
        </p:nvSpPr>
        <p:spPr>
          <a:xfrm>
            <a:off x="457200" y="6729741"/>
            <a:ext cx="5288042" cy="879536"/>
          </a:xfrm>
          <a:prstGeom prst="rect">
            <a:avLst/>
          </a:prstGeom>
        </p:spPr>
        <p:txBody>
          <a:bodyPr wrap="square" lIns="0" tIns="0" rIns="0" bIns="0" rtlCol="0" anchor="t">
            <a:spAutoFit/>
          </a:bodyPr>
          <a:lstStyle/>
          <a:p>
            <a:pPr algn="ctr">
              <a:lnSpc>
                <a:spcPts val="3527"/>
              </a:lnSpc>
              <a:spcBef>
                <a:spcPct val="0"/>
              </a:spcBef>
            </a:pPr>
            <a:endParaRPr lang="en-US" sz="2815" dirty="0">
              <a:solidFill>
                <a:srgbClr val="F5F0F0"/>
              </a:solidFill>
              <a:latin typeface="Merriweather"/>
              <a:ea typeface="Merriweather"/>
              <a:cs typeface="Merriweather"/>
              <a:sym typeface="Merriweather"/>
            </a:endParaRPr>
          </a:p>
          <a:p>
            <a:pPr algn="ctr">
              <a:lnSpc>
                <a:spcPts val="3527"/>
              </a:lnSpc>
              <a:spcBef>
                <a:spcPct val="0"/>
              </a:spcBef>
            </a:pPr>
            <a:r>
              <a:rPr lang="en-US" sz="2815" dirty="0">
                <a:solidFill>
                  <a:srgbClr val="F5F0F0"/>
                </a:solidFill>
                <a:latin typeface="Merriweather"/>
                <a:ea typeface="Merriweather"/>
                <a:cs typeface="Merriweather"/>
                <a:sym typeface="Merriweather"/>
              </a:rPr>
              <a:t>NAME:HARINI 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64831"/>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grpSp>
        <p:nvGrpSpPr>
          <p:cNvPr id="10" name="Group 10"/>
          <p:cNvGrpSpPr/>
          <p:nvPr/>
        </p:nvGrpSpPr>
        <p:grpSpPr>
          <a:xfrm>
            <a:off x="1006231" y="516787"/>
            <a:ext cx="4861169" cy="864929"/>
            <a:chOff x="0" y="0"/>
            <a:chExt cx="2577503" cy="703466"/>
          </a:xfrm>
        </p:grpSpPr>
        <p:sp>
          <p:nvSpPr>
            <p:cNvPr id="11" name="Freeform 11"/>
            <p:cNvSpPr/>
            <p:nvPr/>
          </p:nvSpPr>
          <p:spPr>
            <a:xfrm>
              <a:off x="0" y="0"/>
              <a:ext cx="2577465" cy="703453"/>
            </a:xfrm>
            <a:custGeom>
              <a:avLst/>
              <a:gdLst/>
              <a:ahLst/>
              <a:cxnLst/>
              <a:rect l="l" t="t" r="r" b="b"/>
              <a:pathLst>
                <a:path w="2577465" h="703453">
                  <a:moveTo>
                    <a:pt x="0" y="128778"/>
                  </a:moveTo>
                  <a:cubicBezTo>
                    <a:pt x="0" y="57658"/>
                    <a:pt x="57658" y="0"/>
                    <a:pt x="128778" y="0"/>
                  </a:cubicBezTo>
                  <a:lnTo>
                    <a:pt x="2448687" y="0"/>
                  </a:lnTo>
                  <a:cubicBezTo>
                    <a:pt x="2519807" y="0"/>
                    <a:pt x="2577465" y="57658"/>
                    <a:pt x="2577465" y="128778"/>
                  </a:cubicBezTo>
                  <a:lnTo>
                    <a:pt x="2577465" y="574675"/>
                  </a:lnTo>
                  <a:cubicBezTo>
                    <a:pt x="2577465" y="645795"/>
                    <a:pt x="2519807" y="703453"/>
                    <a:pt x="2448687" y="703453"/>
                  </a:cubicBezTo>
                  <a:lnTo>
                    <a:pt x="128778" y="703453"/>
                  </a:lnTo>
                  <a:cubicBezTo>
                    <a:pt x="57658" y="703453"/>
                    <a:pt x="0" y="645795"/>
                    <a:pt x="0" y="574675"/>
                  </a:cubicBezTo>
                  <a:close/>
                </a:path>
              </a:pathLst>
            </a:custGeom>
            <a:solidFill>
              <a:srgbClr val="001D4D"/>
            </a:solidFill>
          </p:spPr>
        </p:sp>
      </p:grpSp>
      <p:sp>
        <p:nvSpPr>
          <p:cNvPr id="12" name="TextBox 12"/>
          <p:cNvSpPr txBox="1"/>
          <p:nvPr/>
        </p:nvSpPr>
        <p:spPr>
          <a:xfrm>
            <a:off x="1369110" y="684630"/>
            <a:ext cx="4135338" cy="529504"/>
          </a:xfrm>
          <a:prstGeom prst="rect">
            <a:avLst/>
          </a:prstGeom>
        </p:spPr>
        <p:txBody>
          <a:bodyPr wrap="square" lIns="0" tIns="0" rIns="0" bIns="0" rtlCol="0" anchor="t">
            <a:spAutoFit/>
          </a:bodyPr>
          <a:lstStyle/>
          <a:p>
            <a:pPr algn="l">
              <a:lnSpc>
                <a:spcPts val="4547"/>
              </a:lnSpc>
            </a:pPr>
            <a:r>
              <a:rPr lang="en-US" sz="2893" dirty="0">
                <a:solidFill>
                  <a:srgbClr val="E2E6E9"/>
                </a:solidFill>
                <a:latin typeface="Merriweather"/>
                <a:ea typeface="Merriweather"/>
                <a:cs typeface="Merriweather"/>
                <a:sym typeface="Merriweather"/>
              </a:rPr>
              <a:t>PROJECT OBJECTIVE</a:t>
            </a:r>
          </a:p>
        </p:txBody>
      </p:sp>
      <p:sp>
        <p:nvSpPr>
          <p:cNvPr id="13" name="TextBox 13"/>
          <p:cNvSpPr txBox="1"/>
          <p:nvPr/>
        </p:nvSpPr>
        <p:spPr>
          <a:xfrm>
            <a:off x="1020980" y="1790700"/>
            <a:ext cx="8632376" cy="1506374"/>
          </a:xfrm>
          <a:prstGeom prst="rect">
            <a:avLst/>
          </a:prstGeom>
        </p:spPr>
        <p:txBody>
          <a:bodyPr wrap="square" lIns="0" tIns="0" rIns="0" bIns="0" rtlCol="0" anchor="t">
            <a:spAutoFit/>
          </a:bodyPr>
          <a:lstStyle/>
          <a:p>
            <a:pPr algn="l">
              <a:lnSpc>
                <a:spcPts val="6006"/>
              </a:lnSpc>
            </a:pPr>
            <a:r>
              <a:rPr lang="en-US" sz="4783" dirty="0">
                <a:solidFill>
                  <a:srgbClr val="F5F0F0"/>
                </a:solidFill>
                <a:latin typeface="Merriweather"/>
                <a:ea typeface="Merriweather"/>
                <a:cs typeface="Merriweather"/>
                <a:sym typeface="Merriweather"/>
              </a:rPr>
              <a:t>Transforming Restaurant Data Into Strategic Insights</a:t>
            </a:r>
          </a:p>
        </p:txBody>
      </p:sp>
      <p:sp>
        <p:nvSpPr>
          <p:cNvPr id="14" name="TextBox 14"/>
          <p:cNvSpPr txBox="1"/>
          <p:nvPr/>
        </p:nvSpPr>
        <p:spPr>
          <a:xfrm>
            <a:off x="838200" y="3706075"/>
            <a:ext cx="9585579" cy="4767395"/>
          </a:xfrm>
          <a:prstGeom prst="rect">
            <a:avLst/>
          </a:prstGeom>
        </p:spPr>
        <p:txBody>
          <a:bodyPr wrap="square" lIns="0" tIns="0" rIns="0" bIns="0" rtlCol="0" anchor="t">
            <a:spAutoFit/>
          </a:bodyPr>
          <a:lstStyle/>
          <a:p>
            <a:pPr>
              <a:lnSpc>
                <a:spcPts val="3437"/>
              </a:lnSpc>
            </a:pPr>
            <a:r>
              <a:rPr lang="en-US" sz="2400" dirty="0">
                <a:solidFill>
                  <a:schemeClr val="bg1"/>
                </a:solidFill>
                <a:latin typeface="Merriweather" panose="00000500000000000000" pitchFamily="2" charset="0"/>
              </a:rPr>
              <a:t>The objective of this project is to analyze a global restaurant dataset to understand customer engagement patterns, rating reliability, cuisine demand, pricing behavior, and service availability. Restaurants receive ratings and votes from customers, but these metrics alone do not always represent true performance. This project focuses on evaluating restaurant performance by combining customer participation, operational features, and rating stability. Using Power BI dashboards, the project transforms raw restaurant data into meaningful insights that support accurate performance evaluation and data-driven decision-making</a:t>
            </a:r>
            <a:endParaRPr lang="en-US" sz="2249" dirty="0">
              <a:solidFill>
                <a:schemeClr val="bg1"/>
              </a:solidFill>
              <a:latin typeface="Merriweather" panose="00000500000000000000" pitchFamily="2" charset="0"/>
              <a:ea typeface="Merriweather"/>
              <a:cs typeface="Merriweather"/>
              <a:sym typeface="Merriweather"/>
            </a:endParaRPr>
          </a:p>
        </p:txBody>
      </p:sp>
      <p:sp>
        <p:nvSpPr>
          <p:cNvPr id="15" name="TextBox 15"/>
          <p:cNvSpPr txBox="1"/>
          <p:nvPr/>
        </p:nvSpPr>
        <p:spPr>
          <a:xfrm>
            <a:off x="1020980" y="8689140"/>
            <a:ext cx="9417548" cy="402161"/>
          </a:xfrm>
          <a:prstGeom prst="rect">
            <a:avLst/>
          </a:prstGeom>
        </p:spPr>
        <p:txBody>
          <a:bodyPr lIns="0" tIns="0" rIns="0" bIns="0" rtlCol="0" anchor="t">
            <a:spAutoFit/>
          </a:bodyPr>
          <a:lstStyle/>
          <a:p>
            <a:pPr algn="l">
              <a:lnSpc>
                <a:spcPts val="3437"/>
              </a:lnSpc>
            </a:pPr>
            <a:endParaRPr lang="en-US" sz="2249" dirty="0">
              <a:solidFill>
                <a:srgbClr val="E2E6E9"/>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22123" y="20894"/>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833454" y="1589432"/>
            <a:ext cx="6976785" cy="900546"/>
          </a:xfrm>
          <a:prstGeom prst="rect">
            <a:avLst/>
          </a:prstGeom>
        </p:spPr>
        <p:txBody>
          <a:bodyPr lIns="0" tIns="0" rIns="0" bIns="0" rtlCol="0" anchor="t">
            <a:spAutoFit/>
          </a:bodyPr>
          <a:lstStyle/>
          <a:p>
            <a:pPr algn="l">
              <a:lnSpc>
                <a:spcPts val="6799"/>
              </a:lnSpc>
            </a:pPr>
            <a:r>
              <a:rPr lang="en-US" sz="5425">
                <a:solidFill>
                  <a:srgbClr val="F5F0F0"/>
                </a:solidFill>
                <a:latin typeface="Merriweather"/>
                <a:ea typeface="Merriweather"/>
                <a:cs typeface="Merriweather"/>
                <a:sym typeface="Merriweather"/>
              </a:rPr>
              <a:t>Project Description:</a:t>
            </a:r>
          </a:p>
        </p:txBody>
      </p:sp>
      <p:grpSp>
        <p:nvGrpSpPr>
          <p:cNvPr id="7" name="Group 7"/>
          <p:cNvGrpSpPr/>
          <p:nvPr/>
        </p:nvGrpSpPr>
        <p:grpSpPr>
          <a:xfrm>
            <a:off x="11987947" y="3116826"/>
            <a:ext cx="5552825" cy="4263095"/>
            <a:chOff x="0" y="0"/>
            <a:chExt cx="12833350" cy="7188304"/>
          </a:xfrm>
        </p:grpSpPr>
        <p:sp>
          <p:nvSpPr>
            <p:cNvPr id="8" name="Freeform 8" descr="preencoded.png"/>
            <p:cNvSpPr/>
            <p:nvPr/>
          </p:nvSpPr>
          <p:spPr>
            <a:xfrm>
              <a:off x="0" y="0"/>
              <a:ext cx="12833350" cy="7188305"/>
            </a:xfrm>
            <a:custGeom>
              <a:avLst/>
              <a:gdLst/>
              <a:ahLst/>
              <a:cxnLst/>
              <a:rect l="l" t="t" r="r" b="b"/>
              <a:pathLst>
                <a:path w="12833350" h="7188305">
                  <a:moveTo>
                    <a:pt x="0" y="0"/>
                  </a:moveTo>
                  <a:lnTo>
                    <a:pt x="12833350" y="0"/>
                  </a:lnTo>
                  <a:lnTo>
                    <a:pt x="12833350" y="7188305"/>
                  </a:lnTo>
                  <a:lnTo>
                    <a:pt x="0" y="7188305"/>
                  </a:lnTo>
                  <a:lnTo>
                    <a:pt x="0" y="0"/>
                  </a:lnTo>
                  <a:close/>
                </a:path>
              </a:pathLst>
            </a:custGeom>
            <a:blipFill>
              <a:blip r:embed="rId4"/>
              <a:stretch>
                <a:fillRect l="-202" r="-202"/>
              </a:stretch>
            </a:blipFill>
          </p:spPr>
        </p:sp>
      </p:grpSp>
      <p:sp>
        <p:nvSpPr>
          <p:cNvPr id="10" name="TextBox 10"/>
          <p:cNvSpPr txBox="1"/>
          <p:nvPr/>
        </p:nvSpPr>
        <p:spPr>
          <a:xfrm>
            <a:off x="850660" y="3086100"/>
            <a:ext cx="10727074" cy="4629537"/>
          </a:xfrm>
          <a:prstGeom prst="rect">
            <a:avLst/>
          </a:prstGeom>
        </p:spPr>
        <p:txBody>
          <a:bodyPr wrap="square" lIns="0" tIns="0" rIns="0" bIns="0" rtlCol="0" anchor="t">
            <a:spAutoFit/>
          </a:bodyPr>
          <a:lstStyle/>
          <a:p>
            <a:pPr>
              <a:lnSpc>
                <a:spcPts val="3308"/>
              </a:lnSpc>
            </a:pPr>
            <a:r>
              <a:rPr lang="en-US" sz="2400" dirty="0">
                <a:solidFill>
                  <a:schemeClr val="bg1"/>
                </a:solidFill>
                <a:latin typeface="Merriweather" panose="00000500000000000000" pitchFamily="2" charset="0"/>
              </a:rPr>
              <a:t>• Project focuses on analyzing restaurant performance using a worldwide dataset from Kaggle</a:t>
            </a:r>
            <a:br>
              <a:rPr lang="en-US" sz="2400" dirty="0">
                <a:solidFill>
                  <a:schemeClr val="bg1"/>
                </a:solidFill>
                <a:latin typeface="Merriweather" panose="00000500000000000000" pitchFamily="2" charset="0"/>
              </a:rPr>
            </a:br>
            <a:r>
              <a:rPr lang="en-US" sz="2400" dirty="0">
                <a:solidFill>
                  <a:schemeClr val="bg1"/>
                </a:solidFill>
                <a:latin typeface="Merriweather" panose="00000500000000000000" pitchFamily="2" charset="0"/>
              </a:rPr>
              <a:t>• Dataset contains attributes such as restaurant location, cuisine type, ratings, votes, and pricing</a:t>
            </a:r>
            <a:br>
              <a:rPr lang="en-US" sz="2400" dirty="0">
                <a:solidFill>
                  <a:schemeClr val="bg1"/>
                </a:solidFill>
                <a:latin typeface="Merriweather" panose="00000500000000000000" pitchFamily="2" charset="0"/>
              </a:rPr>
            </a:br>
            <a:r>
              <a:rPr lang="en-US" sz="2400" dirty="0">
                <a:solidFill>
                  <a:schemeClr val="bg1"/>
                </a:solidFill>
                <a:latin typeface="Merriweather" panose="00000500000000000000" pitchFamily="2" charset="0"/>
              </a:rPr>
              <a:t>• Global dataset enables analysis of diverse restaurant environments and customer behavior patterns</a:t>
            </a:r>
            <a:br>
              <a:rPr lang="en-US" sz="2400" dirty="0">
                <a:solidFill>
                  <a:schemeClr val="bg1"/>
                </a:solidFill>
                <a:latin typeface="Merriweather" panose="00000500000000000000" pitchFamily="2" charset="0"/>
              </a:rPr>
            </a:br>
            <a:r>
              <a:rPr lang="en-US" sz="2400" dirty="0">
                <a:solidFill>
                  <a:schemeClr val="bg1"/>
                </a:solidFill>
                <a:latin typeface="Merriweather" panose="00000500000000000000" pitchFamily="2" charset="0"/>
              </a:rPr>
              <a:t>• Power BI was used to clean, transform, and visualize the dataset</a:t>
            </a:r>
            <a:br>
              <a:rPr lang="en-US" sz="2400" dirty="0">
                <a:solidFill>
                  <a:schemeClr val="bg1"/>
                </a:solidFill>
                <a:latin typeface="Merriweather" panose="00000500000000000000" pitchFamily="2" charset="0"/>
              </a:rPr>
            </a:br>
            <a:r>
              <a:rPr lang="en-US" sz="2400" dirty="0">
                <a:solidFill>
                  <a:schemeClr val="bg1"/>
                </a:solidFill>
                <a:latin typeface="Merriweather" panose="00000500000000000000" pitchFamily="2" charset="0"/>
              </a:rPr>
              <a:t>• Interactive dashboards were developed to identify engagement trends and performance insights</a:t>
            </a:r>
            <a:br>
              <a:rPr lang="en-US" sz="2400" dirty="0">
                <a:solidFill>
                  <a:schemeClr val="bg1"/>
                </a:solidFill>
                <a:latin typeface="Merriweather" panose="00000500000000000000" pitchFamily="2" charset="0"/>
              </a:rPr>
            </a:br>
            <a:r>
              <a:rPr lang="en-US" sz="2400" dirty="0">
                <a:solidFill>
                  <a:schemeClr val="bg1"/>
                </a:solidFill>
                <a:latin typeface="Merriweather" panose="00000500000000000000" pitchFamily="2" charset="0"/>
              </a:rPr>
              <a:t>• Project helps convert raw data into structured analytical insights for decision support</a:t>
            </a:r>
            <a:endParaRPr lang="en-US" sz="2308" dirty="0">
              <a:solidFill>
                <a:schemeClr val="bg1"/>
              </a:solidFill>
              <a:latin typeface="Merriweather" panose="00000500000000000000" pitchFamily="2" charset="0"/>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1079744" y="1341834"/>
            <a:ext cx="7979526" cy="747512"/>
          </a:xfrm>
          <a:prstGeom prst="rect">
            <a:avLst/>
          </a:prstGeom>
        </p:spPr>
        <p:txBody>
          <a:bodyPr wrap="square" lIns="0" tIns="0" rIns="0" bIns="0" rtlCol="0" anchor="t">
            <a:spAutoFit/>
          </a:bodyPr>
          <a:lstStyle/>
          <a:p>
            <a:pPr algn="l">
              <a:lnSpc>
                <a:spcPts val="6062"/>
              </a:lnSpc>
            </a:pPr>
            <a:r>
              <a:rPr lang="en-US" sz="4812" b="1" dirty="0">
                <a:solidFill>
                  <a:srgbClr val="F5F0F0"/>
                </a:solidFill>
                <a:latin typeface="Merriweather Bold"/>
                <a:ea typeface="Merriweather Bold"/>
                <a:cs typeface="Merriweather Bold"/>
                <a:sym typeface="Merriweather Bold"/>
              </a:rPr>
              <a:t>Top Visualizations Used</a:t>
            </a:r>
          </a:p>
        </p:txBody>
      </p:sp>
      <p:sp>
        <p:nvSpPr>
          <p:cNvPr id="7" name="TextBox 7"/>
          <p:cNvSpPr txBox="1"/>
          <p:nvPr/>
        </p:nvSpPr>
        <p:spPr>
          <a:xfrm>
            <a:off x="1079744" y="3201438"/>
            <a:ext cx="16128502" cy="588759"/>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The project primarily uses four impactful visualizations to communicate insights effectively:</a:t>
            </a:r>
          </a:p>
        </p:txBody>
      </p:sp>
      <p:sp>
        <p:nvSpPr>
          <p:cNvPr id="8" name="TextBox 8"/>
          <p:cNvSpPr txBox="1"/>
          <p:nvPr/>
        </p:nvSpPr>
        <p:spPr>
          <a:xfrm>
            <a:off x="1079744" y="4042019"/>
            <a:ext cx="16128502" cy="2393950"/>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 </a:t>
            </a:r>
            <a:r>
              <a:rPr lang="en-US" sz="2375" b="1">
                <a:solidFill>
                  <a:srgbClr val="E2E6E9"/>
                </a:solidFill>
                <a:latin typeface="Merriweather Bold"/>
                <a:ea typeface="Merriweather Bold"/>
                <a:cs typeface="Merriweather Bold"/>
                <a:sym typeface="Merriweather Bold"/>
              </a:rPr>
              <a:t>Scatter Chart</a:t>
            </a:r>
            <a:r>
              <a:rPr lang="en-US" sz="2375">
                <a:solidFill>
                  <a:srgbClr val="E2E6E9"/>
                </a:solidFill>
                <a:latin typeface="Merriweather"/>
                <a:ea typeface="Merriweather"/>
                <a:cs typeface="Merriweather"/>
                <a:sym typeface="Merriweather"/>
              </a:rPr>
              <a:t> — Used to analyze the relationship between customer votes and ratings, helping evaluate rating reliability.</a:t>
            </a:r>
          </a:p>
          <a:p>
            <a:pPr algn="l">
              <a:lnSpc>
                <a:spcPts val="3875"/>
              </a:lnSpc>
            </a:pPr>
            <a:r>
              <a:rPr lang="en-US" sz="2375">
                <a:solidFill>
                  <a:srgbClr val="E2E6E9"/>
                </a:solidFill>
                <a:latin typeface="Merriweather"/>
                <a:ea typeface="Merriweather"/>
                <a:cs typeface="Merriweather"/>
                <a:sym typeface="Merriweather"/>
              </a:rPr>
              <a:t>• </a:t>
            </a:r>
            <a:r>
              <a:rPr lang="en-US" sz="2375" b="1">
                <a:solidFill>
                  <a:srgbClr val="E2E6E9"/>
                </a:solidFill>
                <a:latin typeface="Merriweather Bold"/>
                <a:ea typeface="Merriweather Bold"/>
                <a:cs typeface="Merriweather Bold"/>
                <a:sym typeface="Merriweather Bold"/>
              </a:rPr>
              <a:t>Column Chart</a:t>
            </a:r>
            <a:r>
              <a:rPr lang="en-US" sz="2375">
                <a:solidFill>
                  <a:srgbClr val="E2E6E9"/>
                </a:solidFill>
                <a:latin typeface="Merriweather"/>
                <a:ea typeface="Merriweather"/>
                <a:cs typeface="Merriweather"/>
                <a:sym typeface="Merriweather"/>
              </a:rPr>
              <a:t> — Enables clear comparison of restaurant performance across cuisines, cities, and operational categories.</a:t>
            </a:r>
          </a:p>
          <a:p>
            <a:pPr algn="l">
              <a:lnSpc>
                <a:spcPts val="3875"/>
              </a:lnSpc>
            </a:pPr>
            <a:r>
              <a:rPr lang="en-US" sz="2375">
                <a:solidFill>
                  <a:srgbClr val="E2E6E9"/>
                </a:solidFill>
                <a:latin typeface="Merriweather"/>
                <a:ea typeface="Merriweather"/>
                <a:cs typeface="Merriweather"/>
                <a:sym typeface="Merriweather"/>
              </a:rPr>
              <a:t>• </a:t>
            </a:r>
            <a:r>
              <a:rPr lang="en-US" sz="2375" b="1">
                <a:solidFill>
                  <a:srgbClr val="E2E6E9"/>
                </a:solidFill>
                <a:latin typeface="Merriweather Bold"/>
                <a:ea typeface="Merriweather Bold"/>
                <a:cs typeface="Merriweather Bold"/>
                <a:sym typeface="Merriweather Bold"/>
              </a:rPr>
              <a:t>Line Chart</a:t>
            </a:r>
            <a:r>
              <a:rPr lang="en-US" sz="2375">
                <a:solidFill>
                  <a:srgbClr val="E2E6E9"/>
                </a:solidFill>
                <a:latin typeface="Merriweather"/>
                <a:ea typeface="Merriweather"/>
                <a:cs typeface="Merriweather"/>
                <a:sym typeface="Merriweather"/>
              </a:rPr>
              <a:t> — Highlights trends such as rating stability and engagement progression over vote ranges.</a:t>
            </a:r>
          </a:p>
        </p:txBody>
      </p:sp>
      <p:sp>
        <p:nvSpPr>
          <p:cNvPr id="9" name="TextBox 9"/>
          <p:cNvSpPr txBox="1"/>
          <p:nvPr/>
        </p:nvSpPr>
        <p:spPr>
          <a:xfrm>
            <a:off x="1028700" y="6946921"/>
            <a:ext cx="16128502" cy="1082278"/>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These visualizations were selected to represent relationships, comparisons, trends, and distributions in a clear and meaningful way.</a:t>
            </a:r>
          </a:p>
        </p:txBody>
      </p:sp>
      <p:grpSp>
        <p:nvGrpSpPr>
          <p:cNvPr id="10" name="Group 10"/>
          <p:cNvGrpSpPr/>
          <p:nvPr/>
        </p:nvGrpSpPr>
        <p:grpSpPr>
          <a:xfrm>
            <a:off x="909132" y="1360884"/>
            <a:ext cx="7979408" cy="905113"/>
            <a:chOff x="0" y="0"/>
            <a:chExt cx="6818937" cy="773479"/>
          </a:xfrm>
        </p:grpSpPr>
        <p:sp>
          <p:nvSpPr>
            <p:cNvPr id="11" name="Freeform 11"/>
            <p:cNvSpPr/>
            <p:nvPr/>
          </p:nvSpPr>
          <p:spPr>
            <a:xfrm>
              <a:off x="0" y="0"/>
              <a:ext cx="6819039" cy="773408"/>
            </a:xfrm>
            <a:custGeom>
              <a:avLst/>
              <a:gdLst/>
              <a:ahLst/>
              <a:cxnLst/>
              <a:rect l="l" t="t" r="r" b="b"/>
              <a:pathLst>
                <a:path w="6819039" h="773408">
                  <a:moveTo>
                    <a:pt x="0" y="150769"/>
                  </a:moveTo>
                  <a:cubicBezTo>
                    <a:pt x="0" y="67307"/>
                    <a:pt x="152352" y="0"/>
                    <a:pt x="340108" y="0"/>
                  </a:cubicBezTo>
                  <a:lnTo>
                    <a:pt x="6479148" y="0"/>
                  </a:lnTo>
                  <a:lnTo>
                    <a:pt x="6479148" y="8974"/>
                  </a:lnTo>
                  <a:lnTo>
                    <a:pt x="6479148" y="0"/>
                  </a:lnTo>
                  <a:cubicBezTo>
                    <a:pt x="6666506" y="0"/>
                    <a:pt x="6819039" y="67307"/>
                    <a:pt x="6819039" y="150769"/>
                  </a:cubicBezTo>
                  <a:lnTo>
                    <a:pt x="6799366" y="150769"/>
                  </a:lnTo>
                  <a:lnTo>
                    <a:pt x="6819039" y="150769"/>
                  </a:lnTo>
                  <a:lnTo>
                    <a:pt x="6819039" y="622639"/>
                  </a:lnTo>
                  <a:lnTo>
                    <a:pt x="6799366" y="622639"/>
                  </a:lnTo>
                  <a:lnTo>
                    <a:pt x="6819039" y="622639"/>
                  </a:lnTo>
                  <a:cubicBezTo>
                    <a:pt x="6819039" y="706100"/>
                    <a:pt x="6666903" y="773408"/>
                    <a:pt x="6479148" y="773408"/>
                  </a:cubicBezTo>
                  <a:lnTo>
                    <a:pt x="6479148" y="764433"/>
                  </a:lnTo>
                  <a:lnTo>
                    <a:pt x="6479148" y="773408"/>
                  </a:lnTo>
                  <a:lnTo>
                    <a:pt x="340108" y="773408"/>
                  </a:lnTo>
                  <a:lnTo>
                    <a:pt x="340108" y="764433"/>
                  </a:lnTo>
                  <a:lnTo>
                    <a:pt x="340108" y="773408"/>
                  </a:lnTo>
                  <a:cubicBezTo>
                    <a:pt x="152352" y="773408"/>
                    <a:pt x="0" y="706100"/>
                    <a:pt x="0" y="622639"/>
                  </a:cubicBezTo>
                  <a:lnTo>
                    <a:pt x="0" y="150769"/>
                  </a:lnTo>
                  <a:lnTo>
                    <a:pt x="19889" y="150769"/>
                  </a:lnTo>
                  <a:lnTo>
                    <a:pt x="0" y="150769"/>
                  </a:lnTo>
                  <a:moveTo>
                    <a:pt x="39779" y="150769"/>
                  </a:moveTo>
                  <a:lnTo>
                    <a:pt x="39779" y="622639"/>
                  </a:lnTo>
                  <a:lnTo>
                    <a:pt x="19889" y="622639"/>
                  </a:lnTo>
                  <a:lnTo>
                    <a:pt x="39779" y="622639"/>
                  </a:lnTo>
                  <a:cubicBezTo>
                    <a:pt x="39779" y="695869"/>
                    <a:pt x="173833" y="755459"/>
                    <a:pt x="340108" y="755459"/>
                  </a:cubicBezTo>
                  <a:lnTo>
                    <a:pt x="6479148" y="755459"/>
                  </a:lnTo>
                  <a:cubicBezTo>
                    <a:pt x="6645422" y="755459"/>
                    <a:pt x="6779477" y="695869"/>
                    <a:pt x="6779477" y="622639"/>
                  </a:cubicBezTo>
                  <a:lnTo>
                    <a:pt x="6779477" y="150769"/>
                  </a:lnTo>
                  <a:cubicBezTo>
                    <a:pt x="6779477" y="77538"/>
                    <a:pt x="6645423" y="17949"/>
                    <a:pt x="6479148" y="17949"/>
                  </a:cubicBezTo>
                  <a:lnTo>
                    <a:pt x="340108" y="17949"/>
                  </a:lnTo>
                  <a:lnTo>
                    <a:pt x="340108" y="8974"/>
                  </a:lnTo>
                  <a:lnTo>
                    <a:pt x="340108" y="17949"/>
                  </a:lnTo>
                  <a:cubicBezTo>
                    <a:pt x="173833" y="17949"/>
                    <a:pt x="39779" y="77538"/>
                    <a:pt x="39779" y="150769"/>
                  </a:cubicBezTo>
                  <a:close/>
                </a:path>
              </a:pathLst>
            </a:custGeom>
            <a:solidFill>
              <a:srgbClr val="609DFF"/>
            </a:solid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21652" y="0"/>
            <a:chExt cx="24384000" cy="13716000"/>
          </a:xfrm>
        </p:grpSpPr>
        <p:sp>
          <p:nvSpPr>
            <p:cNvPr id="5" name="Freeform 5"/>
            <p:cNvSpPr/>
            <p:nvPr/>
          </p:nvSpPr>
          <p:spPr>
            <a:xfrm>
              <a:off x="21652"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txBody>
            <a:bodyPr/>
            <a:lstStyle/>
            <a:p>
              <a:endParaRPr lang="en-IN" dirty="0"/>
            </a:p>
          </p:txBody>
        </p:sp>
      </p:grpSp>
      <p:grpSp>
        <p:nvGrpSpPr>
          <p:cNvPr id="6" name="Group 6"/>
          <p:cNvGrpSpPr/>
          <p:nvPr/>
        </p:nvGrpSpPr>
        <p:grpSpPr>
          <a:xfrm>
            <a:off x="2136155" y="1095731"/>
            <a:ext cx="4340845" cy="640434"/>
            <a:chOff x="0" y="0"/>
            <a:chExt cx="2177059" cy="547294"/>
          </a:xfrm>
        </p:grpSpPr>
        <p:sp>
          <p:nvSpPr>
            <p:cNvPr id="7" name="Freeform 7"/>
            <p:cNvSpPr/>
            <p:nvPr/>
          </p:nvSpPr>
          <p:spPr>
            <a:xfrm>
              <a:off x="0" y="0"/>
              <a:ext cx="2177161" cy="547243"/>
            </a:xfrm>
            <a:custGeom>
              <a:avLst/>
              <a:gdLst/>
              <a:ahLst/>
              <a:cxnLst/>
              <a:rect l="l" t="t" r="r" b="b"/>
              <a:pathLst>
                <a:path w="2177161" h="547243">
                  <a:moveTo>
                    <a:pt x="0" y="106680"/>
                  </a:moveTo>
                  <a:cubicBezTo>
                    <a:pt x="0" y="47625"/>
                    <a:pt x="48641" y="0"/>
                    <a:pt x="108585" y="0"/>
                  </a:cubicBezTo>
                  <a:lnTo>
                    <a:pt x="2068576" y="0"/>
                  </a:lnTo>
                  <a:lnTo>
                    <a:pt x="2068576" y="6350"/>
                  </a:lnTo>
                  <a:lnTo>
                    <a:pt x="2068576" y="0"/>
                  </a:lnTo>
                  <a:cubicBezTo>
                    <a:pt x="2128393" y="0"/>
                    <a:pt x="2177161" y="47625"/>
                    <a:pt x="2177161" y="106680"/>
                  </a:cubicBezTo>
                  <a:lnTo>
                    <a:pt x="2170811" y="106680"/>
                  </a:lnTo>
                  <a:lnTo>
                    <a:pt x="2177161" y="106680"/>
                  </a:lnTo>
                  <a:lnTo>
                    <a:pt x="2177161" y="440563"/>
                  </a:lnTo>
                  <a:lnTo>
                    <a:pt x="2170811" y="440563"/>
                  </a:lnTo>
                  <a:lnTo>
                    <a:pt x="2177161" y="440563"/>
                  </a:lnTo>
                  <a:cubicBezTo>
                    <a:pt x="2177161" y="499618"/>
                    <a:pt x="2128520" y="547243"/>
                    <a:pt x="2068576" y="547243"/>
                  </a:cubicBezTo>
                  <a:lnTo>
                    <a:pt x="2068576" y="540893"/>
                  </a:lnTo>
                  <a:lnTo>
                    <a:pt x="2068576" y="547243"/>
                  </a:lnTo>
                  <a:lnTo>
                    <a:pt x="108585" y="547243"/>
                  </a:lnTo>
                  <a:lnTo>
                    <a:pt x="108585" y="540893"/>
                  </a:lnTo>
                  <a:lnTo>
                    <a:pt x="108585" y="547243"/>
                  </a:lnTo>
                  <a:cubicBezTo>
                    <a:pt x="48641" y="547243"/>
                    <a:pt x="0" y="499618"/>
                    <a:pt x="0" y="440563"/>
                  </a:cubicBezTo>
                  <a:lnTo>
                    <a:pt x="0" y="106680"/>
                  </a:lnTo>
                  <a:lnTo>
                    <a:pt x="6350" y="106680"/>
                  </a:lnTo>
                  <a:lnTo>
                    <a:pt x="0" y="106680"/>
                  </a:lnTo>
                  <a:moveTo>
                    <a:pt x="12700" y="106680"/>
                  </a:moveTo>
                  <a:lnTo>
                    <a:pt x="12700" y="440563"/>
                  </a:lnTo>
                  <a:lnTo>
                    <a:pt x="6350" y="440563"/>
                  </a:lnTo>
                  <a:lnTo>
                    <a:pt x="12700" y="440563"/>
                  </a:lnTo>
                  <a:cubicBezTo>
                    <a:pt x="12700" y="492379"/>
                    <a:pt x="55499" y="534543"/>
                    <a:pt x="108585" y="534543"/>
                  </a:cubicBezTo>
                  <a:lnTo>
                    <a:pt x="2068576" y="534543"/>
                  </a:lnTo>
                  <a:cubicBezTo>
                    <a:pt x="2121662" y="534543"/>
                    <a:pt x="2164461" y="492379"/>
                    <a:pt x="2164461" y="440563"/>
                  </a:cubicBezTo>
                  <a:lnTo>
                    <a:pt x="2164461" y="106680"/>
                  </a:lnTo>
                  <a:cubicBezTo>
                    <a:pt x="2164461" y="54864"/>
                    <a:pt x="2121662" y="12700"/>
                    <a:pt x="2068576" y="12700"/>
                  </a:cubicBezTo>
                  <a:lnTo>
                    <a:pt x="108585" y="12700"/>
                  </a:lnTo>
                  <a:lnTo>
                    <a:pt x="108585" y="6350"/>
                  </a:lnTo>
                  <a:lnTo>
                    <a:pt x="108585" y="12700"/>
                  </a:lnTo>
                  <a:cubicBezTo>
                    <a:pt x="55499" y="12700"/>
                    <a:pt x="12700" y="54864"/>
                    <a:pt x="12700" y="106680"/>
                  </a:cubicBezTo>
                  <a:close/>
                </a:path>
              </a:pathLst>
            </a:custGeom>
            <a:solidFill>
              <a:srgbClr val="609DFF"/>
            </a:solidFill>
          </p:spPr>
        </p:sp>
      </p:grpSp>
      <p:sp>
        <p:nvSpPr>
          <p:cNvPr id="8" name="Freeform 8" descr="preencoded.png"/>
          <p:cNvSpPr/>
          <p:nvPr/>
        </p:nvSpPr>
        <p:spPr>
          <a:xfrm>
            <a:off x="2178182" y="1340501"/>
            <a:ext cx="323098" cy="323098"/>
          </a:xfrm>
          <a:custGeom>
            <a:avLst/>
            <a:gdLst/>
            <a:ahLst/>
            <a:cxnLst/>
            <a:rect l="l" t="t" r="r" b="b"/>
            <a:pathLst>
              <a:path w="323098" h="323098">
                <a:moveTo>
                  <a:pt x="0" y="0"/>
                </a:moveTo>
                <a:lnTo>
                  <a:pt x="323097" y="0"/>
                </a:lnTo>
                <a:lnTo>
                  <a:pt x="323097" y="323097"/>
                </a:lnTo>
                <a:lnTo>
                  <a:pt x="0" y="323097"/>
                </a:lnTo>
                <a:lnTo>
                  <a:pt x="0" y="0"/>
                </a:lnTo>
                <a:close/>
              </a:path>
            </a:pathLst>
          </a:custGeom>
          <a:blipFill>
            <a:blip r:embed="rId4">
              <a:extLst>
                <a:ext uri="{96DAC541-7B7A-43D3-8B79-37D633B846F1}">
                  <asvg:svgBlip xmlns:asvg="http://schemas.microsoft.com/office/drawing/2016/SVG/main" r:embed="rId5"/>
                </a:ext>
              </a:extLst>
            </a:blip>
            <a:stretch>
              <a:fillRect l="-10525" r="-10530"/>
            </a:stretch>
          </a:blipFill>
        </p:spPr>
      </p:sp>
      <p:sp>
        <p:nvSpPr>
          <p:cNvPr id="9" name="TextBox 9"/>
          <p:cNvSpPr txBox="1"/>
          <p:nvPr/>
        </p:nvSpPr>
        <p:spPr>
          <a:xfrm>
            <a:off x="2817603" y="1307296"/>
            <a:ext cx="4198852" cy="346890"/>
          </a:xfrm>
          <a:prstGeom prst="rect">
            <a:avLst/>
          </a:prstGeom>
        </p:spPr>
        <p:txBody>
          <a:bodyPr wrap="square" lIns="0" tIns="0" rIns="0" bIns="0" rtlCol="0" anchor="t">
            <a:spAutoFit/>
          </a:bodyPr>
          <a:lstStyle/>
          <a:p>
            <a:pPr algn="l">
              <a:lnSpc>
                <a:spcPts val="2865"/>
              </a:lnSpc>
            </a:pPr>
            <a:r>
              <a:rPr lang="en-US" sz="2033" dirty="0">
                <a:solidFill>
                  <a:srgbClr val="609DFF"/>
                </a:solidFill>
                <a:latin typeface="Merriweather"/>
                <a:ea typeface="Merriweather"/>
                <a:cs typeface="Merriweather"/>
                <a:sym typeface="Merriweather"/>
              </a:rPr>
              <a:t>EXECUTION MILESTONE</a:t>
            </a:r>
          </a:p>
        </p:txBody>
      </p:sp>
      <p:sp>
        <p:nvSpPr>
          <p:cNvPr id="10" name="TextBox 10"/>
          <p:cNvSpPr txBox="1"/>
          <p:nvPr/>
        </p:nvSpPr>
        <p:spPr>
          <a:xfrm>
            <a:off x="2115740" y="1815998"/>
            <a:ext cx="10457259" cy="675249"/>
          </a:xfrm>
          <a:prstGeom prst="rect">
            <a:avLst/>
          </a:prstGeom>
        </p:spPr>
        <p:txBody>
          <a:bodyPr wrap="square" lIns="0" tIns="0" rIns="0" bIns="0" rtlCol="0" anchor="t">
            <a:spAutoFit/>
          </a:bodyPr>
          <a:lstStyle/>
          <a:p>
            <a:pPr algn="l">
              <a:lnSpc>
                <a:spcPts val="5500"/>
              </a:lnSpc>
            </a:pPr>
            <a:r>
              <a:rPr lang="en-US" sz="4375" dirty="0">
                <a:solidFill>
                  <a:srgbClr val="F5F0F0"/>
                </a:solidFill>
                <a:latin typeface="Merriweather"/>
                <a:ea typeface="Merriweather"/>
                <a:cs typeface="Merriweather"/>
                <a:sym typeface="Merriweather"/>
              </a:rPr>
              <a:t>Four-Phase Development Approach</a:t>
            </a:r>
          </a:p>
        </p:txBody>
      </p:sp>
      <p:sp>
        <p:nvSpPr>
          <p:cNvPr id="11" name="TextBox 11"/>
          <p:cNvSpPr txBox="1"/>
          <p:nvPr/>
        </p:nvSpPr>
        <p:spPr>
          <a:xfrm>
            <a:off x="2115741" y="2769841"/>
            <a:ext cx="14056519" cy="637880"/>
          </a:xfrm>
          <a:prstGeom prst="rect">
            <a:avLst/>
          </a:prstGeom>
        </p:spPr>
        <p:txBody>
          <a:bodyPr lIns="0" tIns="0" rIns="0" bIns="0" rtlCol="0" anchor="t">
            <a:spAutoFit/>
          </a:bodyPr>
          <a:lstStyle/>
          <a:p>
            <a:pPr algn="l">
              <a:lnSpc>
                <a:spcPts val="2375"/>
              </a:lnSpc>
            </a:pPr>
            <a:r>
              <a:rPr lang="en-US" sz="1750">
                <a:solidFill>
                  <a:srgbClr val="E2E6E9"/>
                </a:solidFill>
                <a:latin typeface="Merriweather"/>
                <a:ea typeface="Merriweather"/>
                <a:cs typeface="Merriweather"/>
                <a:sym typeface="Merriweather"/>
              </a:rPr>
              <a:t>The project was executed through structured in to 4 milestones to ensure systematic development from raw data preparation to strategic insights.</a:t>
            </a:r>
          </a:p>
        </p:txBody>
      </p:sp>
      <p:grpSp>
        <p:nvGrpSpPr>
          <p:cNvPr id="12" name="Group 12"/>
          <p:cNvGrpSpPr/>
          <p:nvPr/>
        </p:nvGrpSpPr>
        <p:grpSpPr>
          <a:xfrm>
            <a:off x="2115741" y="3590773"/>
            <a:ext cx="7028259" cy="896245"/>
            <a:chOff x="0" y="0"/>
            <a:chExt cx="9371012" cy="1194994"/>
          </a:xfrm>
        </p:grpSpPr>
        <p:sp>
          <p:nvSpPr>
            <p:cNvPr id="13" name="Freeform 13" descr="preencoded.png"/>
            <p:cNvSpPr/>
            <p:nvPr/>
          </p:nvSpPr>
          <p:spPr>
            <a:xfrm>
              <a:off x="0" y="0"/>
              <a:ext cx="9371076" cy="1194943"/>
            </a:xfrm>
            <a:custGeom>
              <a:avLst/>
              <a:gdLst/>
              <a:ahLst/>
              <a:cxnLst/>
              <a:rect l="l" t="t" r="r" b="b"/>
              <a:pathLst>
                <a:path w="9371076" h="1194943">
                  <a:moveTo>
                    <a:pt x="0" y="0"/>
                  </a:moveTo>
                  <a:lnTo>
                    <a:pt x="9371076" y="0"/>
                  </a:lnTo>
                  <a:lnTo>
                    <a:pt x="9371076" y="1194943"/>
                  </a:lnTo>
                  <a:lnTo>
                    <a:pt x="0" y="1194943"/>
                  </a:lnTo>
                  <a:lnTo>
                    <a:pt x="0" y="0"/>
                  </a:lnTo>
                  <a:close/>
                </a:path>
              </a:pathLst>
            </a:custGeom>
            <a:blipFill>
              <a:blip r:embed="rId6"/>
              <a:stretch>
                <a:fillRect l="-58" r="-57" b="-4"/>
              </a:stretch>
            </a:blipFill>
          </p:spPr>
        </p:sp>
      </p:grpSp>
      <p:sp>
        <p:nvSpPr>
          <p:cNvPr id="14" name="TextBox 14"/>
          <p:cNvSpPr txBox="1"/>
          <p:nvPr/>
        </p:nvSpPr>
        <p:spPr>
          <a:xfrm>
            <a:off x="2339731" y="4630636"/>
            <a:ext cx="6804269" cy="342401"/>
          </a:xfrm>
          <a:prstGeom prst="rect">
            <a:avLst/>
          </a:prstGeom>
        </p:spPr>
        <p:txBody>
          <a:bodyPr wrap="square" lIns="0" tIns="0" rIns="0" bIns="0" rtlCol="0" anchor="t">
            <a:spAutoFit/>
          </a:bodyPr>
          <a:lstStyle/>
          <a:p>
            <a:pPr algn="l">
              <a:lnSpc>
                <a:spcPts val="2750"/>
              </a:lnSpc>
            </a:pPr>
            <a:r>
              <a:rPr lang="en-US" sz="2187" b="1" dirty="0">
                <a:solidFill>
                  <a:srgbClr val="E2E6E9"/>
                </a:solidFill>
                <a:latin typeface="Merriweather"/>
                <a:ea typeface="Merriweather"/>
                <a:cs typeface="Merriweather"/>
                <a:sym typeface="Merriweather"/>
              </a:rPr>
              <a:t>MILESTONE 1:</a:t>
            </a:r>
            <a:r>
              <a:rPr lang="en-US" sz="2187" dirty="0">
                <a:solidFill>
                  <a:srgbClr val="E2E6E9"/>
                </a:solidFill>
                <a:latin typeface="Merriweather"/>
                <a:ea typeface="Merriweather"/>
                <a:cs typeface="Merriweather"/>
                <a:sym typeface="Merriweather"/>
              </a:rPr>
              <a:t>Data Collection &amp; Preprocessing</a:t>
            </a:r>
          </a:p>
        </p:txBody>
      </p:sp>
      <p:sp>
        <p:nvSpPr>
          <p:cNvPr id="15" name="TextBox 15"/>
          <p:cNvSpPr txBox="1"/>
          <p:nvPr/>
        </p:nvSpPr>
        <p:spPr>
          <a:xfrm>
            <a:off x="2339731" y="5078311"/>
            <a:ext cx="6580289" cy="947290"/>
          </a:xfrm>
          <a:prstGeom prst="rect">
            <a:avLst/>
          </a:prstGeom>
        </p:spPr>
        <p:txBody>
          <a:bodyPr lIns="0" tIns="0" rIns="0" bIns="0" rtlCol="0" anchor="t">
            <a:spAutoFit/>
          </a:bodyPr>
          <a:lstStyle/>
          <a:p>
            <a:pPr algn="l">
              <a:lnSpc>
                <a:spcPts val="2375"/>
              </a:lnSpc>
            </a:pPr>
            <a:r>
              <a:rPr lang="en-US" sz="1750">
                <a:solidFill>
                  <a:srgbClr val="E2E6E9"/>
                </a:solidFill>
                <a:latin typeface="Merriweather"/>
                <a:ea typeface="Merriweather"/>
                <a:cs typeface="Merriweather"/>
                <a:sym typeface="Merriweather"/>
              </a:rPr>
              <a:t>Collected and cleaned restaurant dataset using Power Query. Handled missing values, standardized formats, and created derived columns for analysis.</a:t>
            </a:r>
          </a:p>
        </p:txBody>
      </p:sp>
      <p:grpSp>
        <p:nvGrpSpPr>
          <p:cNvPr id="16" name="Group 16"/>
          <p:cNvGrpSpPr/>
          <p:nvPr/>
        </p:nvGrpSpPr>
        <p:grpSpPr>
          <a:xfrm>
            <a:off x="9144000" y="3590773"/>
            <a:ext cx="7028259" cy="896245"/>
            <a:chOff x="0" y="0"/>
            <a:chExt cx="9371012" cy="1194994"/>
          </a:xfrm>
        </p:grpSpPr>
        <p:sp>
          <p:nvSpPr>
            <p:cNvPr id="17" name="Freeform 17" descr="preencoded.png"/>
            <p:cNvSpPr/>
            <p:nvPr/>
          </p:nvSpPr>
          <p:spPr>
            <a:xfrm>
              <a:off x="0" y="0"/>
              <a:ext cx="9371076" cy="1194943"/>
            </a:xfrm>
            <a:custGeom>
              <a:avLst/>
              <a:gdLst/>
              <a:ahLst/>
              <a:cxnLst/>
              <a:rect l="l" t="t" r="r" b="b"/>
              <a:pathLst>
                <a:path w="9371076" h="1194943">
                  <a:moveTo>
                    <a:pt x="0" y="0"/>
                  </a:moveTo>
                  <a:lnTo>
                    <a:pt x="9371076" y="0"/>
                  </a:lnTo>
                  <a:lnTo>
                    <a:pt x="9371076" y="1194943"/>
                  </a:lnTo>
                  <a:lnTo>
                    <a:pt x="0" y="1194943"/>
                  </a:lnTo>
                  <a:lnTo>
                    <a:pt x="0" y="0"/>
                  </a:lnTo>
                  <a:close/>
                </a:path>
              </a:pathLst>
            </a:custGeom>
            <a:blipFill>
              <a:blip r:embed="rId7"/>
              <a:stretch>
                <a:fillRect l="-58" r="-57" b="-4"/>
              </a:stretch>
            </a:blipFill>
          </p:spPr>
        </p:sp>
      </p:grpSp>
      <p:sp>
        <p:nvSpPr>
          <p:cNvPr id="18" name="TextBox 18"/>
          <p:cNvSpPr txBox="1"/>
          <p:nvPr/>
        </p:nvSpPr>
        <p:spPr>
          <a:xfrm>
            <a:off x="9367990" y="4630636"/>
            <a:ext cx="6804269" cy="342401"/>
          </a:xfrm>
          <a:prstGeom prst="rect">
            <a:avLst/>
          </a:prstGeom>
        </p:spPr>
        <p:txBody>
          <a:bodyPr wrap="square" lIns="0" tIns="0" rIns="0" bIns="0" rtlCol="0" anchor="t">
            <a:spAutoFit/>
          </a:bodyPr>
          <a:lstStyle/>
          <a:p>
            <a:pPr algn="l">
              <a:lnSpc>
                <a:spcPts val="2750"/>
              </a:lnSpc>
            </a:pPr>
            <a:r>
              <a:rPr lang="en-US" sz="2187" b="1" dirty="0">
                <a:solidFill>
                  <a:srgbClr val="E2E6E9"/>
                </a:solidFill>
                <a:latin typeface="Merriweather"/>
                <a:ea typeface="Merriweather"/>
                <a:cs typeface="Merriweather"/>
                <a:sym typeface="Merriweather"/>
              </a:rPr>
              <a:t>MILESTONE 2</a:t>
            </a:r>
            <a:r>
              <a:rPr lang="en-US" sz="2187" dirty="0">
                <a:solidFill>
                  <a:srgbClr val="E2E6E9"/>
                </a:solidFill>
                <a:latin typeface="Merriweather"/>
                <a:ea typeface="Merriweather"/>
                <a:cs typeface="Merriweather"/>
                <a:sym typeface="Merriweather"/>
              </a:rPr>
              <a:t>:Core Dashboard Development</a:t>
            </a:r>
          </a:p>
        </p:txBody>
      </p:sp>
      <p:sp>
        <p:nvSpPr>
          <p:cNvPr id="19" name="TextBox 19"/>
          <p:cNvSpPr txBox="1"/>
          <p:nvPr/>
        </p:nvSpPr>
        <p:spPr>
          <a:xfrm>
            <a:off x="9367990" y="5078311"/>
            <a:ext cx="6580289" cy="947290"/>
          </a:xfrm>
          <a:prstGeom prst="rect">
            <a:avLst/>
          </a:prstGeom>
        </p:spPr>
        <p:txBody>
          <a:bodyPr lIns="0" tIns="0" rIns="0" bIns="0" rtlCol="0" anchor="t">
            <a:spAutoFit/>
          </a:bodyPr>
          <a:lstStyle/>
          <a:p>
            <a:pPr algn="l">
              <a:lnSpc>
                <a:spcPts val="2375"/>
              </a:lnSpc>
            </a:pPr>
            <a:r>
              <a:rPr lang="en-US" sz="1750">
                <a:solidFill>
                  <a:srgbClr val="E2E6E9"/>
                </a:solidFill>
                <a:latin typeface="Merriweather"/>
                <a:ea typeface="Merriweather"/>
                <a:cs typeface="Merriweather"/>
                <a:sym typeface="Merriweather"/>
              </a:rPr>
              <a:t>Built initial dashboards analyzing customer engagement, ratings, cuisine popularity, pricing trends, and location-based patterns.</a:t>
            </a:r>
          </a:p>
        </p:txBody>
      </p:sp>
      <p:grpSp>
        <p:nvGrpSpPr>
          <p:cNvPr id="20" name="Group 20"/>
          <p:cNvGrpSpPr/>
          <p:nvPr/>
        </p:nvGrpSpPr>
        <p:grpSpPr>
          <a:xfrm>
            <a:off x="2115741" y="6249591"/>
            <a:ext cx="7028259" cy="896245"/>
            <a:chOff x="0" y="0"/>
            <a:chExt cx="9371012" cy="1194994"/>
          </a:xfrm>
        </p:grpSpPr>
        <p:sp>
          <p:nvSpPr>
            <p:cNvPr id="21" name="Freeform 21" descr="preencoded.png"/>
            <p:cNvSpPr/>
            <p:nvPr/>
          </p:nvSpPr>
          <p:spPr>
            <a:xfrm>
              <a:off x="0" y="0"/>
              <a:ext cx="9371076" cy="1194943"/>
            </a:xfrm>
            <a:custGeom>
              <a:avLst/>
              <a:gdLst/>
              <a:ahLst/>
              <a:cxnLst/>
              <a:rect l="l" t="t" r="r" b="b"/>
              <a:pathLst>
                <a:path w="9371076" h="1194943">
                  <a:moveTo>
                    <a:pt x="0" y="0"/>
                  </a:moveTo>
                  <a:lnTo>
                    <a:pt x="9371076" y="0"/>
                  </a:lnTo>
                  <a:lnTo>
                    <a:pt x="9371076" y="1194943"/>
                  </a:lnTo>
                  <a:lnTo>
                    <a:pt x="0" y="1194943"/>
                  </a:lnTo>
                  <a:lnTo>
                    <a:pt x="0" y="0"/>
                  </a:lnTo>
                  <a:close/>
                </a:path>
              </a:pathLst>
            </a:custGeom>
            <a:blipFill>
              <a:blip r:embed="rId8"/>
              <a:stretch>
                <a:fillRect l="-58" r="-57" b="-4"/>
              </a:stretch>
            </a:blipFill>
          </p:spPr>
        </p:sp>
      </p:grpSp>
      <p:sp>
        <p:nvSpPr>
          <p:cNvPr id="22" name="TextBox 22"/>
          <p:cNvSpPr txBox="1"/>
          <p:nvPr/>
        </p:nvSpPr>
        <p:spPr>
          <a:xfrm>
            <a:off x="2339731" y="7289454"/>
            <a:ext cx="5508869" cy="342401"/>
          </a:xfrm>
          <a:prstGeom prst="rect">
            <a:avLst/>
          </a:prstGeom>
        </p:spPr>
        <p:txBody>
          <a:bodyPr wrap="square" lIns="0" tIns="0" rIns="0" bIns="0" rtlCol="0" anchor="t">
            <a:spAutoFit/>
          </a:bodyPr>
          <a:lstStyle/>
          <a:p>
            <a:pPr algn="l">
              <a:lnSpc>
                <a:spcPts val="2750"/>
              </a:lnSpc>
            </a:pPr>
            <a:r>
              <a:rPr lang="en-US" sz="2187" b="1" dirty="0">
                <a:solidFill>
                  <a:srgbClr val="E2E6E9"/>
                </a:solidFill>
                <a:latin typeface="Merriweather"/>
                <a:ea typeface="Merriweather"/>
                <a:cs typeface="Merriweather"/>
                <a:sym typeface="Merriweather"/>
              </a:rPr>
              <a:t>MILESTONE 3</a:t>
            </a:r>
            <a:r>
              <a:rPr lang="en-US" sz="2187" dirty="0">
                <a:solidFill>
                  <a:srgbClr val="E2E6E9"/>
                </a:solidFill>
                <a:latin typeface="Merriweather"/>
                <a:ea typeface="Merriweather"/>
                <a:cs typeface="Merriweather"/>
                <a:sym typeface="Merriweather"/>
              </a:rPr>
              <a:t>:Advanced Analytics</a:t>
            </a:r>
          </a:p>
        </p:txBody>
      </p:sp>
      <p:sp>
        <p:nvSpPr>
          <p:cNvPr id="23" name="TextBox 23"/>
          <p:cNvSpPr txBox="1"/>
          <p:nvPr/>
        </p:nvSpPr>
        <p:spPr>
          <a:xfrm>
            <a:off x="2339731" y="7737129"/>
            <a:ext cx="6580289" cy="947290"/>
          </a:xfrm>
          <a:prstGeom prst="rect">
            <a:avLst/>
          </a:prstGeom>
        </p:spPr>
        <p:txBody>
          <a:bodyPr lIns="0" tIns="0" rIns="0" bIns="0" rtlCol="0" anchor="t">
            <a:spAutoFit/>
          </a:bodyPr>
          <a:lstStyle/>
          <a:p>
            <a:pPr algn="l">
              <a:lnSpc>
                <a:spcPts val="2375"/>
              </a:lnSpc>
            </a:pPr>
            <a:r>
              <a:rPr lang="en-US" sz="1750">
                <a:solidFill>
                  <a:srgbClr val="E2E6E9"/>
                </a:solidFill>
                <a:latin typeface="Merriweather"/>
                <a:ea typeface="Merriweather"/>
                <a:cs typeface="Merriweather"/>
                <a:sym typeface="Merriweather"/>
              </a:rPr>
              <a:t>Created sophisticated dashboards evaluating rating consistency and customer participation. Explored analytical relationships between votes and ratings.</a:t>
            </a:r>
          </a:p>
        </p:txBody>
      </p:sp>
      <p:grpSp>
        <p:nvGrpSpPr>
          <p:cNvPr id="24" name="Group 24"/>
          <p:cNvGrpSpPr/>
          <p:nvPr/>
        </p:nvGrpSpPr>
        <p:grpSpPr>
          <a:xfrm>
            <a:off x="9144000" y="6249591"/>
            <a:ext cx="7028259" cy="896245"/>
            <a:chOff x="0" y="0"/>
            <a:chExt cx="9371012" cy="1194994"/>
          </a:xfrm>
        </p:grpSpPr>
        <p:sp>
          <p:nvSpPr>
            <p:cNvPr id="25" name="Freeform 25" descr="preencoded.png"/>
            <p:cNvSpPr/>
            <p:nvPr/>
          </p:nvSpPr>
          <p:spPr>
            <a:xfrm>
              <a:off x="0" y="0"/>
              <a:ext cx="9371076" cy="1194943"/>
            </a:xfrm>
            <a:custGeom>
              <a:avLst/>
              <a:gdLst/>
              <a:ahLst/>
              <a:cxnLst/>
              <a:rect l="l" t="t" r="r" b="b"/>
              <a:pathLst>
                <a:path w="9371076" h="1194943">
                  <a:moveTo>
                    <a:pt x="0" y="0"/>
                  </a:moveTo>
                  <a:lnTo>
                    <a:pt x="9371076" y="0"/>
                  </a:lnTo>
                  <a:lnTo>
                    <a:pt x="9371076" y="1194943"/>
                  </a:lnTo>
                  <a:lnTo>
                    <a:pt x="0" y="1194943"/>
                  </a:lnTo>
                  <a:lnTo>
                    <a:pt x="0" y="0"/>
                  </a:lnTo>
                  <a:close/>
                </a:path>
              </a:pathLst>
            </a:custGeom>
            <a:blipFill>
              <a:blip r:embed="rId9"/>
              <a:stretch>
                <a:fillRect l="-58" r="-57" b="-4"/>
              </a:stretch>
            </a:blipFill>
          </p:spPr>
        </p:sp>
      </p:grpSp>
      <p:sp>
        <p:nvSpPr>
          <p:cNvPr id="26" name="TextBox 26"/>
          <p:cNvSpPr txBox="1"/>
          <p:nvPr/>
        </p:nvSpPr>
        <p:spPr>
          <a:xfrm>
            <a:off x="9367990" y="7289454"/>
            <a:ext cx="5033810" cy="342401"/>
          </a:xfrm>
          <a:prstGeom prst="rect">
            <a:avLst/>
          </a:prstGeom>
        </p:spPr>
        <p:txBody>
          <a:bodyPr wrap="square" lIns="0" tIns="0" rIns="0" bIns="0" rtlCol="0" anchor="t">
            <a:spAutoFit/>
          </a:bodyPr>
          <a:lstStyle/>
          <a:p>
            <a:pPr algn="l">
              <a:lnSpc>
                <a:spcPts val="2750"/>
              </a:lnSpc>
            </a:pPr>
            <a:r>
              <a:rPr lang="en-US" sz="2187" b="1" dirty="0">
                <a:solidFill>
                  <a:srgbClr val="E2E6E9"/>
                </a:solidFill>
                <a:latin typeface="Merriweather"/>
                <a:ea typeface="Merriweather"/>
                <a:cs typeface="Merriweather"/>
                <a:sym typeface="Merriweather"/>
              </a:rPr>
              <a:t>MILESTONE 4</a:t>
            </a:r>
            <a:r>
              <a:rPr lang="en-US" sz="2187" dirty="0">
                <a:solidFill>
                  <a:srgbClr val="E2E6E9"/>
                </a:solidFill>
                <a:latin typeface="Merriweather"/>
                <a:ea typeface="Merriweather"/>
                <a:cs typeface="Merriweather"/>
                <a:sym typeface="Merriweather"/>
              </a:rPr>
              <a:t>:Strategic Insights</a:t>
            </a:r>
          </a:p>
        </p:txBody>
      </p:sp>
      <p:sp>
        <p:nvSpPr>
          <p:cNvPr id="27" name="TextBox 27"/>
          <p:cNvSpPr txBox="1"/>
          <p:nvPr/>
        </p:nvSpPr>
        <p:spPr>
          <a:xfrm>
            <a:off x="9367990" y="7737129"/>
            <a:ext cx="6580289" cy="947290"/>
          </a:xfrm>
          <a:prstGeom prst="rect">
            <a:avLst/>
          </a:prstGeom>
        </p:spPr>
        <p:txBody>
          <a:bodyPr lIns="0" tIns="0" rIns="0" bIns="0" rtlCol="0" anchor="t">
            <a:spAutoFit/>
          </a:bodyPr>
          <a:lstStyle/>
          <a:p>
            <a:pPr algn="l">
              <a:lnSpc>
                <a:spcPts val="2375"/>
              </a:lnSpc>
            </a:pPr>
            <a:r>
              <a:rPr lang="en-US" sz="1750">
                <a:solidFill>
                  <a:srgbClr val="E2E6E9"/>
                </a:solidFill>
                <a:latin typeface="Merriweather"/>
                <a:ea typeface="Merriweather"/>
                <a:cs typeface="Merriweather"/>
                <a:sym typeface="Merriweather"/>
              </a:rPr>
              <a:t>Categorized restaurants into action-based groups: promotion, improvement, or monitoring. Converted findings into decision frameworks.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61182"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p:nvPr/>
        </p:nvGrpSpPr>
        <p:grpSpPr>
          <a:xfrm>
            <a:off x="12106237" y="1187106"/>
            <a:ext cx="6096000" cy="89535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609601" y="1519439"/>
            <a:ext cx="8229600" cy="651845"/>
          </a:xfrm>
          <a:prstGeom prst="rect">
            <a:avLst/>
          </a:prstGeom>
        </p:spPr>
        <p:txBody>
          <a:bodyPr wrap="square" lIns="0" tIns="0" rIns="0" bIns="0" rtlCol="0" anchor="t">
            <a:spAutoFit/>
          </a:bodyPr>
          <a:lstStyle/>
          <a:p>
            <a:pPr algn="l">
              <a:lnSpc>
                <a:spcPts val="5312"/>
              </a:lnSpc>
            </a:pPr>
            <a:r>
              <a:rPr lang="en-US" sz="4250" dirty="0">
                <a:solidFill>
                  <a:srgbClr val="F5F0F0"/>
                </a:solidFill>
                <a:latin typeface="Merriweather"/>
                <a:ea typeface="Merriweather"/>
                <a:cs typeface="Merriweather"/>
                <a:sym typeface="Merriweather"/>
              </a:rPr>
              <a:t>Challenges</a:t>
            </a:r>
          </a:p>
        </p:txBody>
      </p:sp>
      <p:grpSp>
        <p:nvGrpSpPr>
          <p:cNvPr id="11" name="Group 11"/>
          <p:cNvGrpSpPr/>
          <p:nvPr/>
        </p:nvGrpSpPr>
        <p:grpSpPr>
          <a:xfrm>
            <a:off x="436875" y="2566901"/>
            <a:ext cx="3925368" cy="3452546"/>
            <a:chOff x="0" y="0"/>
            <a:chExt cx="4281488" cy="3952278"/>
          </a:xfrm>
        </p:grpSpPr>
        <p:sp>
          <p:nvSpPr>
            <p:cNvPr id="12" name="Freeform 12"/>
            <p:cNvSpPr/>
            <p:nvPr/>
          </p:nvSpPr>
          <p:spPr>
            <a:xfrm>
              <a:off x="6350" y="6350"/>
              <a:ext cx="4268851" cy="3939540"/>
            </a:xfrm>
            <a:custGeom>
              <a:avLst/>
              <a:gdLst/>
              <a:ahLst/>
              <a:cxnLst/>
              <a:rect l="l" t="t" r="r" b="b"/>
              <a:pathLst>
                <a:path w="4268851" h="3939540">
                  <a:moveTo>
                    <a:pt x="0" y="121539"/>
                  </a:moveTo>
                  <a:cubicBezTo>
                    <a:pt x="0" y="54483"/>
                    <a:pt x="54483" y="0"/>
                    <a:pt x="121666" y="0"/>
                  </a:cubicBezTo>
                  <a:lnTo>
                    <a:pt x="4147185" y="0"/>
                  </a:lnTo>
                  <a:cubicBezTo>
                    <a:pt x="4214368" y="0"/>
                    <a:pt x="4268851" y="54483"/>
                    <a:pt x="4268851" y="121539"/>
                  </a:cubicBezTo>
                  <a:lnTo>
                    <a:pt x="4268851" y="3818001"/>
                  </a:lnTo>
                  <a:cubicBezTo>
                    <a:pt x="4268851" y="3885184"/>
                    <a:pt x="4214368" y="3939540"/>
                    <a:pt x="4147185" y="3939540"/>
                  </a:cubicBezTo>
                  <a:lnTo>
                    <a:pt x="121666" y="3939540"/>
                  </a:lnTo>
                  <a:cubicBezTo>
                    <a:pt x="54483" y="3939540"/>
                    <a:pt x="0" y="3885057"/>
                    <a:pt x="0" y="3818001"/>
                  </a:cubicBezTo>
                  <a:close/>
                </a:path>
              </a:pathLst>
            </a:custGeom>
            <a:solidFill>
              <a:srgbClr val="003180"/>
            </a:solidFill>
          </p:spPr>
        </p:sp>
        <p:sp>
          <p:nvSpPr>
            <p:cNvPr id="13" name="Freeform 13"/>
            <p:cNvSpPr/>
            <p:nvPr/>
          </p:nvSpPr>
          <p:spPr>
            <a:xfrm>
              <a:off x="0" y="0"/>
              <a:ext cx="4281551" cy="3952240"/>
            </a:xfrm>
            <a:custGeom>
              <a:avLst/>
              <a:gdLst/>
              <a:ahLst/>
              <a:cxnLst/>
              <a:rect l="l" t="t" r="r" b="b"/>
              <a:pathLst>
                <a:path w="4281551" h="3952240">
                  <a:moveTo>
                    <a:pt x="0" y="127889"/>
                  </a:moveTo>
                  <a:cubicBezTo>
                    <a:pt x="0" y="57277"/>
                    <a:pt x="57277" y="0"/>
                    <a:pt x="128016" y="0"/>
                  </a:cubicBezTo>
                  <a:lnTo>
                    <a:pt x="4153535" y="0"/>
                  </a:lnTo>
                  <a:lnTo>
                    <a:pt x="4153535" y="6350"/>
                  </a:lnTo>
                  <a:lnTo>
                    <a:pt x="4153535" y="0"/>
                  </a:lnTo>
                  <a:cubicBezTo>
                    <a:pt x="4224147" y="0"/>
                    <a:pt x="4281551" y="57277"/>
                    <a:pt x="4281551" y="127889"/>
                  </a:cubicBezTo>
                  <a:lnTo>
                    <a:pt x="4275201" y="127889"/>
                  </a:lnTo>
                  <a:lnTo>
                    <a:pt x="4281551" y="127889"/>
                  </a:lnTo>
                  <a:lnTo>
                    <a:pt x="4281551" y="3824351"/>
                  </a:lnTo>
                  <a:lnTo>
                    <a:pt x="4275201" y="3824351"/>
                  </a:lnTo>
                  <a:lnTo>
                    <a:pt x="4281551" y="3824351"/>
                  </a:lnTo>
                  <a:cubicBezTo>
                    <a:pt x="4281551" y="3894963"/>
                    <a:pt x="4224274" y="3952240"/>
                    <a:pt x="4153535" y="3952240"/>
                  </a:cubicBezTo>
                  <a:lnTo>
                    <a:pt x="4153535" y="3945890"/>
                  </a:lnTo>
                  <a:lnTo>
                    <a:pt x="4153535" y="3952240"/>
                  </a:lnTo>
                  <a:lnTo>
                    <a:pt x="128016" y="3952240"/>
                  </a:lnTo>
                  <a:lnTo>
                    <a:pt x="128016" y="3945890"/>
                  </a:lnTo>
                  <a:lnTo>
                    <a:pt x="128016" y="3952240"/>
                  </a:lnTo>
                  <a:cubicBezTo>
                    <a:pt x="57277" y="3952240"/>
                    <a:pt x="0" y="3894963"/>
                    <a:pt x="0" y="3824351"/>
                  </a:cubicBezTo>
                  <a:lnTo>
                    <a:pt x="0" y="127889"/>
                  </a:lnTo>
                  <a:lnTo>
                    <a:pt x="6350" y="127889"/>
                  </a:lnTo>
                  <a:lnTo>
                    <a:pt x="0" y="127889"/>
                  </a:lnTo>
                  <a:moveTo>
                    <a:pt x="12700" y="127889"/>
                  </a:moveTo>
                  <a:lnTo>
                    <a:pt x="12700" y="3824351"/>
                  </a:lnTo>
                  <a:lnTo>
                    <a:pt x="6350" y="3824351"/>
                  </a:lnTo>
                  <a:lnTo>
                    <a:pt x="12700" y="3824351"/>
                  </a:lnTo>
                  <a:cubicBezTo>
                    <a:pt x="12700" y="3887978"/>
                    <a:pt x="64262" y="3939540"/>
                    <a:pt x="128016" y="3939540"/>
                  </a:cubicBezTo>
                  <a:lnTo>
                    <a:pt x="4153535" y="3939540"/>
                  </a:lnTo>
                  <a:cubicBezTo>
                    <a:pt x="4217162" y="3939540"/>
                    <a:pt x="4268851" y="3887978"/>
                    <a:pt x="4268851" y="3824351"/>
                  </a:cubicBezTo>
                  <a:lnTo>
                    <a:pt x="4268851" y="127889"/>
                  </a:lnTo>
                  <a:cubicBezTo>
                    <a:pt x="4268851" y="64262"/>
                    <a:pt x="4217289" y="12700"/>
                    <a:pt x="4153535" y="12700"/>
                  </a:cubicBezTo>
                  <a:lnTo>
                    <a:pt x="128016" y="12700"/>
                  </a:lnTo>
                  <a:lnTo>
                    <a:pt x="128016" y="6350"/>
                  </a:lnTo>
                  <a:lnTo>
                    <a:pt x="128016" y="12700"/>
                  </a:lnTo>
                  <a:cubicBezTo>
                    <a:pt x="64262" y="12700"/>
                    <a:pt x="12700" y="64262"/>
                    <a:pt x="12700" y="127889"/>
                  </a:cubicBezTo>
                  <a:close/>
                </a:path>
              </a:pathLst>
            </a:custGeom>
            <a:solidFill>
              <a:srgbClr val="194A99"/>
            </a:solidFill>
          </p:spPr>
        </p:sp>
      </p:grpSp>
      <p:sp>
        <p:nvSpPr>
          <p:cNvPr id="14" name="TextBox 14"/>
          <p:cNvSpPr txBox="1"/>
          <p:nvPr/>
        </p:nvSpPr>
        <p:spPr>
          <a:xfrm>
            <a:off x="609601" y="2836843"/>
            <a:ext cx="3090118" cy="333425"/>
          </a:xfrm>
          <a:prstGeom prst="rect">
            <a:avLst/>
          </a:prstGeom>
        </p:spPr>
        <p:txBody>
          <a:bodyPr wrap="square" lIns="0" tIns="0" rIns="0" bIns="0" rtlCol="0" anchor="t">
            <a:spAutoFit/>
          </a:bodyPr>
          <a:lstStyle/>
          <a:p>
            <a:pPr algn="l">
              <a:lnSpc>
                <a:spcPts val="2625"/>
              </a:lnSpc>
            </a:pPr>
            <a:r>
              <a:rPr lang="en-US" sz="2400" b="1" dirty="0">
                <a:solidFill>
                  <a:srgbClr val="E2E6E9"/>
                </a:solidFill>
                <a:latin typeface="Merriweather"/>
                <a:ea typeface="Merriweather"/>
                <a:cs typeface="Merriweather"/>
                <a:sym typeface="Merriweather"/>
              </a:rPr>
              <a:t>Data Quality Issues</a:t>
            </a:r>
          </a:p>
        </p:txBody>
      </p:sp>
      <p:sp>
        <p:nvSpPr>
          <p:cNvPr id="15" name="TextBox 15"/>
          <p:cNvSpPr txBox="1"/>
          <p:nvPr/>
        </p:nvSpPr>
        <p:spPr>
          <a:xfrm>
            <a:off x="683286" y="3483799"/>
            <a:ext cx="3125237" cy="1769715"/>
          </a:xfrm>
          <a:prstGeom prst="rect">
            <a:avLst/>
          </a:prstGeom>
        </p:spPr>
        <p:txBody>
          <a:bodyPr wrap="square" lIns="0" tIns="0" rIns="0" bIns="0" rtlCol="0" anchor="t">
            <a:spAutoFit/>
          </a:bodyPr>
          <a:lstStyle/>
          <a:p>
            <a:pPr algn="l">
              <a:lnSpc>
                <a:spcPts val="2312"/>
              </a:lnSpc>
            </a:pPr>
            <a:r>
              <a:rPr lang="en-US" sz="2000" dirty="0">
                <a:solidFill>
                  <a:srgbClr val="E2E6E9"/>
                </a:solidFill>
                <a:latin typeface="Merriweather"/>
                <a:ea typeface="Merriweather"/>
                <a:cs typeface="Merriweather"/>
                <a:sym typeface="Merriweather"/>
              </a:rPr>
              <a:t>Handled incomplete and inconsistent data through careful cleaning and validation processes to ensure accurate analytical results.</a:t>
            </a:r>
          </a:p>
        </p:txBody>
      </p:sp>
      <p:grpSp>
        <p:nvGrpSpPr>
          <p:cNvPr id="16" name="Group 16"/>
          <p:cNvGrpSpPr/>
          <p:nvPr/>
        </p:nvGrpSpPr>
        <p:grpSpPr>
          <a:xfrm>
            <a:off x="4549341" y="2565672"/>
            <a:ext cx="3573813" cy="3441452"/>
            <a:chOff x="0" y="0"/>
            <a:chExt cx="4281691" cy="3952278"/>
          </a:xfrm>
        </p:grpSpPr>
        <p:sp>
          <p:nvSpPr>
            <p:cNvPr id="17" name="Freeform 17"/>
            <p:cNvSpPr/>
            <p:nvPr/>
          </p:nvSpPr>
          <p:spPr>
            <a:xfrm>
              <a:off x="6350" y="6350"/>
              <a:ext cx="4269105" cy="3939540"/>
            </a:xfrm>
            <a:custGeom>
              <a:avLst/>
              <a:gdLst/>
              <a:ahLst/>
              <a:cxnLst/>
              <a:rect l="l" t="t" r="r" b="b"/>
              <a:pathLst>
                <a:path w="4269105" h="3939540">
                  <a:moveTo>
                    <a:pt x="0" y="121539"/>
                  </a:moveTo>
                  <a:cubicBezTo>
                    <a:pt x="0" y="54483"/>
                    <a:pt x="54483" y="0"/>
                    <a:pt x="121666" y="0"/>
                  </a:cubicBezTo>
                  <a:lnTo>
                    <a:pt x="4147439" y="0"/>
                  </a:lnTo>
                  <a:cubicBezTo>
                    <a:pt x="4214622" y="0"/>
                    <a:pt x="4269105" y="54483"/>
                    <a:pt x="4269105" y="121539"/>
                  </a:cubicBezTo>
                  <a:lnTo>
                    <a:pt x="4269105" y="3818001"/>
                  </a:lnTo>
                  <a:cubicBezTo>
                    <a:pt x="4269105" y="3885184"/>
                    <a:pt x="4214622" y="3939540"/>
                    <a:pt x="4147439" y="3939540"/>
                  </a:cubicBezTo>
                  <a:lnTo>
                    <a:pt x="121666" y="3939540"/>
                  </a:lnTo>
                  <a:cubicBezTo>
                    <a:pt x="54483" y="3939540"/>
                    <a:pt x="0" y="3885057"/>
                    <a:pt x="0" y="3818001"/>
                  </a:cubicBezTo>
                  <a:close/>
                </a:path>
              </a:pathLst>
            </a:custGeom>
            <a:solidFill>
              <a:srgbClr val="003180"/>
            </a:solidFill>
          </p:spPr>
        </p:sp>
        <p:sp>
          <p:nvSpPr>
            <p:cNvPr id="18" name="Freeform 18"/>
            <p:cNvSpPr/>
            <p:nvPr/>
          </p:nvSpPr>
          <p:spPr>
            <a:xfrm>
              <a:off x="0" y="0"/>
              <a:ext cx="4281805" cy="3952240"/>
            </a:xfrm>
            <a:custGeom>
              <a:avLst/>
              <a:gdLst/>
              <a:ahLst/>
              <a:cxnLst/>
              <a:rect l="l" t="t" r="r" b="b"/>
              <a:pathLst>
                <a:path w="4281805" h="3952240">
                  <a:moveTo>
                    <a:pt x="0" y="127889"/>
                  </a:moveTo>
                  <a:cubicBezTo>
                    <a:pt x="0" y="57277"/>
                    <a:pt x="57277" y="0"/>
                    <a:pt x="128016" y="0"/>
                  </a:cubicBezTo>
                  <a:lnTo>
                    <a:pt x="4153789" y="0"/>
                  </a:lnTo>
                  <a:lnTo>
                    <a:pt x="4153789" y="6350"/>
                  </a:lnTo>
                  <a:lnTo>
                    <a:pt x="4153789" y="0"/>
                  </a:lnTo>
                  <a:cubicBezTo>
                    <a:pt x="4224401" y="0"/>
                    <a:pt x="4281805" y="57277"/>
                    <a:pt x="4281805" y="127889"/>
                  </a:cubicBezTo>
                  <a:lnTo>
                    <a:pt x="4275455" y="127889"/>
                  </a:lnTo>
                  <a:lnTo>
                    <a:pt x="4281805" y="127889"/>
                  </a:lnTo>
                  <a:lnTo>
                    <a:pt x="4281805" y="3824351"/>
                  </a:lnTo>
                  <a:lnTo>
                    <a:pt x="4275455" y="3824351"/>
                  </a:lnTo>
                  <a:lnTo>
                    <a:pt x="4281805" y="3824351"/>
                  </a:lnTo>
                  <a:cubicBezTo>
                    <a:pt x="4281805" y="3894963"/>
                    <a:pt x="4224528" y="3952240"/>
                    <a:pt x="4153789" y="3952240"/>
                  </a:cubicBezTo>
                  <a:lnTo>
                    <a:pt x="4153789" y="3945890"/>
                  </a:lnTo>
                  <a:lnTo>
                    <a:pt x="4153789" y="3952240"/>
                  </a:lnTo>
                  <a:lnTo>
                    <a:pt x="128016" y="3952240"/>
                  </a:lnTo>
                  <a:lnTo>
                    <a:pt x="128016" y="3945890"/>
                  </a:lnTo>
                  <a:lnTo>
                    <a:pt x="128016" y="3952240"/>
                  </a:lnTo>
                  <a:cubicBezTo>
                    <a:pt x="57277" y="3952240"/>
                    <a:pt x="0" y="3894963"/>
                    <a:pt x="0" y="3824351"/>
                  </a:cubicBezTo>
                  <a:lnTo>
                    <a:pt x="0" y="127889"/>
                  </a:lnTo>
                  <a:lnTo>
                    <a:pt x="6350" y="127889"/>
                  </a:lnTo>
                  <a:lnTo>
                    <a:pt x="0" y="127889"/>
                  </a:lnTo>
                  <a:moveTo>
                    <a:pt x="12700" y="127889"/>
                  </a:moveTo>
                  <a:lnTo>
                    <a:pt x="12700" y="3824351"/>
                  </a:lnTo>
                  <a:lnTo>
                    <a:pt x="6350" y="3824351"/>
                  </a:lnTo>
                  <a:lnTo>
                    <a:pt x="12700" y="3824351"/>
                  </a:lnTo>
                  <a:cubicBezTo>
                    <a:pt x="12700" y="3887978"/>
                    <a:pt x="64262" y="3939540"/>
                    <a:pt x="128016" y="3939540"/>
                  </a:cubicBezTo>
                  <a:lnTo>
                    <a:pt x="4153789" y="3939540"/>
                  </a:lnTo>
                  <a:cubicBezTo>
                    <a:pt x="4217416" y="3939540"/>
                    <a:pt x="4269105" y="3887978"/>
                    <a:pt x="4269105" y="3824351"/>
                  </a:cubicBezTo>
                  <a:lnTo>
                    <a:pt x="4269105" y="127889"/>
                  </a:lnTo>
                  <a:cubicBezTo>
                    <a:pt x="4269105" y="64262"/>
                    <a:pt x="4217543" y="12700"/>
                    <a:pt x="4153789" y="12700"/>
                  </a:cubicBezTo>
                  <a:lnTo>
                    <a:pt x="128016" y="12700"/>
                  </a:lnTo>
                  <a:lnTo>
                    <a:pt x="128016" y="6350"/>
                  </a:lnTo>
                  <a:lnTo>
                    <a:pt x="128016" y="12700"/>
                  </a:lnTo>
                  <a:cubicBezTo>
                    <a:pt x="64262" y="12700"/>
                    <a:pt x="12700" y="64262"/>
                    <a:pt x="12700" y="127889"/>
                  </a:cubicBezTo>
                  <a:close/>
                </a:path>
              </a:pathLst>
            </a:custGeom>
            <a:solidFill>
              <a:srgbClr val="194A99"/>
            </a:solidFill>
          </p:spPr>
        </p:sp>
      </p:grpSp>
      <p:sp>
        <p:nvSpPr>
          <p:cNvPr id="19" name="TextBox 19"/>
          <p:cNvSpPr txBox="1"/>
          <p:nvPr/>
        </p:nvSpPr>
        <p:spPr>
          <a:xfrm>
            <a:off x="4765588" y="2884755"/>
            <a:ext cx="3201829" cy="333425"/>
          </a:xfrm>
          <a:prstGeom prst="rect">
            <a:avLst/>
          </a:prstGeom>
        </p:spPr>
        <p:txBody>
          <a:bodyPr wrap="square" lIns="0" tIns="0" rIns="0" bIns="0" rtlCol="0" anchor="t">
            <a:spAutoFit/>
          </a:bodyPr>
          <a:lstStyle/>
          <a:p>
            <a:pPr algn="l">
              <a:lnSpc>
                <a:spcPts val="2625"/>
              </a:lnSpc>
            </a:pPr>
            <a:r>
              <a:rPr lang="en-US" sz="2400" b="1" dirty="0">
                <a:solidFill>
                  <a:srgbClr val="E2E6E9"/>
                </a:solidFill>
                <a:latin typeface="Merriweather"/>
                <a:ea typeface="Merriweather"/>
                <a:cs typeface="Merriweather"/>
                <a:sym typeface="Merriweather"/>
              </a:rPr>
              <a:t>Power BI Complexity</a:t>
            </a:r>
          </a:p>
        </p:txBody>
      </p:sp>
      <p:sp>
        <p:nvSpPr>
          <p:cNvPr id="20" name="TextBox 20"/>
          <p:cNvSpPr txBox="1"/>
          <p:nvPr/>
        </p:nvSpPr>
        <p:spPr>
          <a:xfrm>
            <a:off x="4878353" y="3441325"/>
            <a:ext cx="3089064" cy="2064668"/>
          </a:xfrm>
          <a:prstGeom prst="rect">
            <a:avLst/>
          </a:prstGeom>
        </p:spPr>
        <p:txBody>
          <a:bodyPr wrap="square" lIns="0" tIns="0" rIns="0" bIns="0" rtlCol="0" anchor="t">
            <a:spAutoFit/>
          </a:bodyPr>
          <a:lstStyle/>
          <a:p>
            <a:pPr algn="l">
              <a:lnSpc>
                <a:spcPts val="2312"/>
              </a:lnSpc>
            </a:pPr>
            <a:r>
              <a:rPr lang="en-US" sz="2000" dirty="0">
                <a:solidFill>
                  <a:srgbClr val="E2E6E9"/>
                </a:solidFill>
                <a:latin typeface="Merriweather"/>
                <a:ea typeface="Merriweather"/>
                <a:cs typeface="Merriweather"/>
                <a:sym typeface="Merriweather"/>
              </a:rPr>
              <a:t>Managed filter interactions and calculated measures, particularly when analyzing rating reliability and customer engagement patterns.</a:t>
            </a:r>
          </a:p>
        </p:txBody>
      </p:sp>
      <p:grpSp>
        <p:nvGrpSpPr>
          <p:cNvPr id="21" name="Group 21"/>
          <p:cNvGrpSpPr/>
          <p:nvPr/>
        </p:nvGrpSpPr>
        <p:grpSpPr>
          <a:xfrm>
            <a:off x="8313771" y="2572448"/>
            <a:ext cx="3573760" cy="3452579"/>
            <a:chOff x="0" y="0"/>
            <a:chExt cx="4281488" cy="3952278"/>
          </a:xfrm>
        </p:grpSpPr>
        <p:sp>
          <p:nvSpPr>
            <p:cNvPr id="22" name="Freeform 22"/>
            <p:cNvSpPr/>
            <p:nvPr/>
          </p:nvSpPr>
          <p:spPr>
            <a:xfrm>
              <a:off x="6350" y="6350"/>
              <a:ext cx="4268851" cy="3939540"/>
            </a:xfrm>
            <a:custGeom>
              <a:avLst/>
              <a:gdLst/>
              <a:ahLst/>
              <a:cxnLst/>
              <a:rect l="l" t="t" r="r" b="b"/>
              <a:pathLst>
                <a:path w="4268851" h="3939540">
                  <a:moveTo>
                    <a:pt x="0" y="121539"/>
                  </a:moveTo>
                  <a:cubicBezTo>
                    <a:pt x="0" y="54483"/>
                    <a:pt x="54483" y="0"/>
                    <a:pt x="121666" y="0"/>
                  </a:cubicBezTo>
                  <a:lnTo>
                    <a:pt x="4147185" y="0"/>
                  </a:lnTo>
                  <a:cubicBezTo>
                    <a:pt x="4214368" y="0"/>
                    <a:pt x="4268851" y="54483"/>
                    <a:pt x="4268851" y="121539"/>
                  </a:cubicBezTo>
                  <a:lnTo>
                    <a:pt x="4268851" y="3818001"/>
                  </a:lnTo>
                  <a:cubicBezTo>
                    <a:pt x="4268851" y="3885184"/>
                    <a:pt x="4214368" y="3939540"/>
                    <a:pt x="4147185" y="3939540"/>
                  </a:cubicBezTo>
                  <a:lnTo>
                    <a:pt x="121666" y="3939540"/>
                  </a:lnTo>
                  <a:cubicBezTo>
                    <a:pt x="54483" y="3939540"/>
                    <a:pt x="0" y="3885057"/>
                    <a:pt x="0" y="3818001"/>
                  </a:cubicBezTo>
                  <a:close/>
                </a:path>
              </a:pathLst>
            </a:custGeom>
            <a:solidFill>
              <a:srgbClr val="003180"/>
            </a:solidFill>
          </p:spPr>
        </p:sp>
        <p:sp>
          <p:nvSpPr>
            <p:cNvPr id="23" name="Freeform 23"/>
            <p:cNvSpPr/>
            <p:nvPr/>
          </p:nvSpPr>
          <p:spPr>
            <a:xfrm>
              <a:off x="0" y="0"/>
              <a:ext cx="4281551" cy="3952240"/>
            </a:xfrm>
            <a:custGeom>
              <a:avLst/>
              <a:gdLst/>
              <a:ahLst/>
              <a:cxnLst/>
              <a:rect l="l" t="t" r="r" b="b"/>
              <a:pathLst>
                <a:path w="4281551" h="3952240">
                  <a:moveTo>
                    <a:pt x="0" y="127889"/>
                  </a:moveTo>
                  <a:cubicBezTo>
                    <a:pt x="0" y="57277"/>
                    <a:pt x="57277" y="0"/>
                    <a:pt x="128016" y="0"/>
                  </a:cubicBezTo>
                  <a:lnTo>
                    <a:pt x="4153535" y="0"/>
                  </a:lnTo>
                  <a:lnTo>
                    <a:pt x="4153535" y="6350"/>
                  </a:lnTo>
                  <a:lnTo>
                    <a:pt x="4153535" y="0"/>
                  </a:lnTo>
                  <a:cubicBezTo>
                    <a:pt x="4224147" y="0"/>
                    <a:pt x="4281551" y="57277"/>
                    <a:pt x="4281551" y="127889"/>
                  </a:cubicBezTo>
                  <a:lnTo>
                    <a:pt x="4275201" y="127889"/>
                  </a:lnTo>
                  <a:lnTo>
                    <a:pt x="4281551" y="127889"/>
                  </a:lnTo>
                  <a:lnTo>
                    <a:pt x="4281551" y="3824351"/>
                  </a:lnTo>
                  <a:lnTo>
                    <a:pt x="4275201" y="3824351"/>
                  </a:lnTo>
                  <a:lnTo>
                    <a:pt x="4281551" y="3824351"/>
                  </a:lnTo>
                  <a:cubicBezTo>
                    <a:pt x="4281551" y="3894963"/>
                    <a:pt x="4224274" y="3952240"/>
                    <a:pt x="4153535" y="3952240"/>
                  </a:cubicBezTo>
                  <a:lnTo>
                    <a:pt x="4153535" y="3945890"/>
                  </a:lnTo>
                  <a:lnTo>
                    <a:pt x="4153535" y="3952240"/>
                  </a:lnTo>
                  <a:lnTo>
                    <a:pt x="128016" y="3952240"/>
                  </a:lnTo>
                  <a:lnTo>
                    <a:pt x="128016" y="3945890"/>
                  </a:lnTo>
                  <a:lnTo>
                    <a:pt x="128016" y="3952240"/>
                  </a:lnTo>
                  <a:cubicBezTo>
                    <a:pt x="57277" y="3952240"/>
                    <a:pt x="0" y="3894963"/>
                    <a:pt x="0" y="3824351"/>
                  </a:cubicBezTo>
                  <a:lnTo>
                    <a:pt x="0" y="127889"/>
                  </a:lnTo>
                  <a:lnTo>
                    <a:pt x="6350" y="127889"/>
                  </a:lnTo>
                  <a:lnTo>
                    <a:pt x="0" y="127889"/>
                  </a:lnTo>
                  <a:moveTo>
                    <a:pt x="12700" y="127889"/>
                  </a:moveTo>
                  <a:lnTo>
                    <a:pt x="12700" y="3824351"/>
                  </a:lnTo>
                  <a:lnTo>
                    <a:pt x="6350" y="3824351"/>
                  </a:lnTo>
                  <a:lnTo>
                    <a:pt x="12700" y="3824351"/>
                  </a:lnTo>
                  <a:cubicBezTo>
                    <a:pt x="12700" y="3887978"/>
                    <a:pt x="64262" y="3939540"/>
                    <a:pt x="128016" y="3939540"/>
                  </a:cubicBezTo>
                  <a:lnTo>
                    <a:pt x="4153535" y="3939540"/>
                  </a:lnTo>
                  <a:cubicBezTo>
                    <a:pt x="4217162" y="3939540"/>
                    <a:pt x="4268851" y="3887978"/>
                    <a:pt x="4268851" y="3824351"/>
                  </a:cubicBezTo>
                  <a:lnTo>
                    <a:pt x="4268851" y="127889"/>
                  </a:lnTo>
                  <a:cubicBezTo>
                    <a:pt x="4268851" y="64262"/>
                    <a:pt x="4217289" y="12700"/>
                    <a:pt x="4153535" y="12700"/>
                  </a:cubicBezTo>
                  <a:lnTo>
                    <a:pt x="128016" y="12700"/>
                  </a:lnTo>
                  <a:lnTo>
                    <a:pt x="128016" y="6350"/>
                  </a:lnTo>
                  <a:lnTo>
                    <a:pt x="128016" y="12700"/>
                  </a:lnTo>
                  <a:cubicBezTo>
                    <a:pt x="64262" y="12700"/>
                    <a:pt x="12700" y="64262"/>
                    <a:pt x="12700" y="127889"/>
                  </a:cubicBezTo>
                  <a:close/>
                </a:path>
              </a:pathLst>
            </a:custGeom>
            <a:solidFill>
              <a:srgbClr val="194A99"/>
            </a:solidFill>
          </p:spPr>
        </p:sp>
      </p:grpSp>
      <p:sp>
        <p:nvSpPr>
          <p:cNvPr id="24" name="TextBox 24"/>
          <p:cNvSpPr txBox="1"/>
          <p:nvPr/>
        </p:nvSpPr>
        <p:spPr>
          <a:xfrm>
            <a:off x="8580150" y="2924869"/>
            <a:ext cx="3141744" cy="333425"/>
          </a:xfrm>
          <a:prstGeom prst="rect">
            <a:avLst/>
          </a:prstGeom>
        </p:spPr>
        <p:txBody>
          <a:bodyPr wrap="square" lIns="0" tIns="0" rIns="0" bIns="0" rtlCol="0" anchor="t">
            <a:spAutoFit/>
          </a:bodyPr>
          <a:lstStyle/>
          <a:p>
            <a:pPr algn="l">
              <a:lnSpc>
                <a:spcPts val="2625"/>
              </a:lnSpc>
            </a:pPr>
            <a:r>
              <a:rPr lang="en-US" sz="2400" dirty="0">
                <a:solidFill>
                  <a:srgbClr val="E2E6E9"/>
                </a:solidFill>
                <a:latin typeface="Merriweather"/>
                <a:ea typeface="Merriweather"/>
                <a:cs typeface="Merriweather"/>
                <a:sym typeface="Merriweather"/>
              </a:rPr>
              <a:t>Visualization Design</a:t>
            </a:r>
          </a:p>
        </p:txBody>
      </p:sp>
      <p:sp>
        <p:nvSpPr>
          <p:cNvPr id="25" name="TextBox 25"/>
          <p:cNvSpPr txBox="1"/>
          <p:nvPr/>
        </p:nvSpPr>
        <p:spPr>
          <a:xfrm>
            <a:off x="8593376" y="3482749"/>
            <a:ext cx="3075448" cy="1769715"/>
          </a:xfrm>
          <a:prstGeom prst="rect">
            <a:avLst/>
          </a:prstGeom>
        </p:spPr>
        <p:txBody>
          <a:bodyPr wrap="square" lIns="0" tIns="0" rIns="0" bIns="0" rtlCol="0" anchor="t">
            <a:spAutoFit/>
          </a:bodyPr>
          <a:lstStyle/>
          <a:p>
            <a:pPr algn="l">
              <a:lnSpc>
                <a:spcPts val="2312"/>
              </a:lnSpc>
            </a:pPr>
            <a:r>
              <a:rPr lang="en-US" sz="2000" dirty="0">
                <a:solidFill>
                  <a:srgbClr val="E2E6E9"/>
                </a:solidFill>
                <a:latin typeface="Merriweather"/>
                <a:ea typeface="Merriweather"/>
                <a:cs typeface="Merriweather"/>
                <a:sym typeface="Merriweather"/>
              </a:rPr>
              <a:t>Selected appropriate visualizations to clearly represent complex relationships between votes, ratings, and performance metrics.</a:t>
            </a:r>
          </a:p>
        </p:txBody>
      </p:sp>
      <p:sp>
        <p:nvSpPr>
          <p:cNvPr id="26" name="TextBox 26"/>
          <p:cNvSpPr txBox="1"/>
          <p:nvPr/>
        </p:nvSpPr>
        <p:spPr>
          <a:xfrm>
            <a:off x="515091" y="6135072"/>
            <a:ext cx="10155148" cy="2949525"/>
          </a:xfrm>
          <a:prstGeom prst="rect">
            <a:avLst/>
          </a:prstGeom>
        </p:spPr>
        <p:txBody>
          <a:bodyPr wrap="square" lIns="0" tIns="0" rIns="0" bIns="0" rtlCol="0" anchor="t">
            <a:spAutoFit/>
          </a:bodyPr>
          <a:lstStyle/>
          <a:p>
            <a:pPr algn="l">
              <a:lnSpc>
                <a:spcPts val="2312"/>
              </a:lnSpc>
            </a:pPr>
            <a:endParaRPr lang="en-US" sz="1687" dirty="0">
              <a:solidFill>
                <a:srgbClr val="E2E6E9"/>
              </a:solidFill>
              <a:latin typeface="Merriweather"/>
              <a:ea typeface="Merriweather"/>
              <a:cs typeface="Merriweather"/>
              <a:sym typeface="Merriweather"/>
            </a:endParaRPr>
          </a:p>
          <a:p>
            <a:pPr>
              <a:lnSpc>
                <a:spcPts val="2312"/>
              </a:lnSpc>
            </a:pPr>
            <a:r>
              <a:rPr lang="en-US" sz="4000" dirty="0">
                <a:solidFill>
                  <a:srgbClr val="F5F0F0"/>
                </a:solidFill>
                <a:latin typeface="Merriweather"/>
                <a:ea typeface="Merriweather"/>
                <a:cs typeface="Merriweather"/>
                <a:sym typeface="Merriweather"/>
              </a:rPr>
              <a:t>Resolution</a:t>
            </a:r>
          </a:p>
          <a:p>
            <a:pPr>
              <a:lnSpc>
                <a:spcPts val="2312"/>
              </a:lnSpc>
            </a:pPr>
            <a:endParaRPr lang="en-US" sz="4000" dirty="0">
              <a:solidFill>
                <a:srgbClr val="E2E6E9"/>
              </a:solidFill>
              <a:latin typeface="Merriweather"/>
              <a:ea typeface="Merriweather"/>
              <a:cs typeface="Merriweather"/>
              <a:sym typeface="Merriweather"/>
            </a:endParaRPr>
          </a:p>
          <a:p>
            <a:pPr>
              <a:lnSpc>
                <a:spcPts val="2312"/>
              </a:lnSpc>
            </a:pPr>
            <a:r>
              <a:rPr lang="en-US" sz="2000" dirty="0">
                <a:solidFill>
                  <a:srgbClr val="E2E6E9"/>
                </a:solidFill>
                <a:latin typeface="Merriweather"/>
                <a:sym typeface="Merriweather"/>
              </a:rPr>
              <a:t> </a:t>
            </a:r>
            <a:r>
              <a:rPr lang="en-US" sz="2000" dirty="0">
                <a:solidFill>
                  <a:schemeClr val="bg1"/>
                </a:solidFill>
                <a:latin typeface="Merriweather" panose="00000500000000000000" pitchFamily="2" charset="0"/>
              </a:rPr>
              <a:t>Implemented data cleaning and preprocessing techniques to improve data accuracy and consistency. Optimized Power BI data modeling using proper relationships, filters, and efficient DAX measures to reduce complexity. Selected appropriate visualizations such as charts and KPIs to clearly represent performance metrics. Improved dashboard design with interactive features like slicers for better user experience. These steps ensured reliable analysis and more meaningful insights.</a:t>
            </a:r>
            <a:endParaRPr lang="en-US" sz="2000" dirty="0">
              <a:solidFill>
                <a:schemeClr val="bg1"/>
              </a:solidFill>
              <a:latin typeface="Merriweather" panose="00000500000000000000" pitchFamily="2" charset="0"/>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816818" y="1398404"/>
            <a:ext cx="11832382" cy="637995"/>
          </a:xfrm>
          <a:prstGeom prst="rect">
            <a:avLst/>
          </a:prstGeom>
        </p:spPr>
        <p:txBody>
          <a:bodyPr wrap="square" lIns="0" tIns="0" rIns="0" bIns="0" rtlCol="0" anchor="t">
            <a:spAutoFit/>
          </a:bodyPr>
          <a:lstStyle/>
          <a:p>
            <a:pPr algn="l">
              <a:lnSpc>
                <a:spcPts val="5187"/>
              </a:lnSpc>
            </a:pPr>
            <a:r>
              <a:rPr lang="en-US" sz="4124" dirty="0">
                <a:solidFill>
                  <a:srgbClr val="F5F0F0"/>
                </a:solidFill>
                <a:latin typeface="Merriweather"/>
                <a:ea typeface="Merriweather"/>
                <a:cs typeface="Merriweather"/>
                <a:sym typeface="Merriweather"/>
              </a:rPr>
              <a:t>Skills Developed &amp; Practical Outcomes</a:t>
            </a:r>
          </a:p>
        </p:txBody>
      </p:sp>
      <p:grpSp>
        <p:nvGrpSpPr>
          <p:cNvPr id="7" name="Group 7"/>
          <p:cNvGrpSpPr/>
          <p:nvPr/>
        </p:nvGrpSpPr>
        <p:grpSpPr>
          <a:xfrm>
            <a:off x="12250502" y="5676900"/>
            <a:ext cx="5427898" cy="4096752"/>
            <a:chOff x="0" y="0"/>
            <a:chExt cx="11260734" cy="6284912"/>
          </a:xfrm>
        </p:grpSpPr>
        <p:sp>
          <p:nvSpPr>
            <p:cNvPr id="8" name="Freeform 8" descr="preencoded.png"/>
            <p:cNvSpPr/>
            <p:nvPr/>
          </p:nvSpPr>
          <p:spPr>
            <a:xfrm>
              <a:off x="0" y="0"/>
              <a:ext cx="11260709" cy="6284976"/>
            </a:xfrm>
            <a:custGeom>
              <a:avLst/>
              <a:gdLst/>
              <a:ahLst/>
              <a:cxnLst/>
              <a:rect l="l" t="t" r="r" b="b"/>
              <a:pathLst>
                <a:path w="11260709" h="6284976">
                  <a:moveTo>
                    <a:pt x="0" y="0"/>
                  </a:moveTo>
                  <a:lnTo>
                    <a:pt x="11260709" y="0"/>
                  </a:lnTo>
                  <a:lnTo>
                    <a:pt x="11260709" y="6284976"/>
                  </a:lnTo>
                  <a:lnTo>
                    <a:pt x="0" y="6284976"/>
                  </a:lnTo>
                  <a:lnTo>
                    <a:pt x="0" y="0"/>
                  </a:lnTo>
                  <a:close/>
                </a:path>
              </a:pathLst>
            </a:custGeom>
            <a:blipFill>
              <a:blip r:embed="rId4"/>
              <a:stretch>
                <a:fillRect l="-5" r="-6" b="1"/>
              </a:stretch>
            </a:blipFill>
          </p:spPr>
        </p:sp>
      </p:grpSp>
      <p:sp>
        <p:nvSpPr>
          <p:cNvPr id="10" name="TextBox 10"/>
          <p:cNvSpPr txBox="1"/>
          <p:nvPr/>
        </p:nvSpPr>
        <p:spPr>
          <a:xfrm>
            <a:off x="381000" y="3009901"/>
            <a:ext cx="16597239" cy="6863417"/>
          </a:xfrm>
          <a:prstGeom prst="rect">
            <a:avLst/>
          </a:prstGeom>
        </p:spPr>
        <p:txBody>
          <a:bodyPr wrap="square" lIns="0" tIns="0" rIns="0" bIns="0" rtlCol="0" anchor="t">
            <a:spAutoFit/>
          </a:bodyPr>
          <a:lstStyle/>
          <a:p>
            <a:r>
              <a:rPr lang="en-US" sz="2400" b="1" dirty="0">
                <a:solidFill>
                  <a:schemeClr val="bg1"/>
                </a:solidFill>
                <a:latin typeface="Merriweather" panose="00000500000000000000" pitchFamily="2" charset="0"/>
              </a:rPr>
              <a:t> Skills Developed</a:t>
            </a:r>
          </a:p>
          <a:p>
            <a:pPr lvl="1"/>
            <a:r>
              <a:rPr lang="en-US" sz="2000" dirty="0">
                <a:solidFill>
                  <a:schemeClr val="bg1"/>
                </a:solidFill>
                <a:latin typeface="Merriweather" panose="00000500000000000000" pitchFamily="2" charset="0"/>
              </a:rPr>
              <a:t>• Developed strong proficiency in </a:t>
            </a:r>
            <a:r>
              <a:rPr lang="en-US" sz="2000" b="1" dirty="0">
                <a:solidFill>
                  <a:schemeClr val="bg1"/>
                </a:solidFill>
                <a:latin typeface="Merriweather" panose="00000500000000000000" pitchFamily="2" charset="0"/>
              </a:rPr>
              <a:t>Power BI dashboard creation and report design</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Learned </a:t>
            </a:r>
            <a:r>
              <a:rPr lang="en-US" sz="2000" b="1" dirty="0">
                <a:solidFill>
                  <a:schemeClr val="bg1"/>
                </a:solidFill>
                <a:latin typeface="Merriweather" panose="00000500000000000000" pitchFamily="2" charset="0"/>
              </a:rPr>
              <a:t>data preprocessing using Power Query</a:t>
            </a:r>
            <a:r>
              <a:rPr lang="en-US" sz="2000" dirty="0">
                <a:solidFill>
                  <a:schemeClr val="bg1"/>
                </a:solidFill>
                <a:latin typeface="Merriweather" panose="00000500000000000000" pitchFamily="2" charset="0"/>
              </a:rPr>
              <a:t>, including cleaning, transforming, and structuring raw data</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Improved ability to create and use </a:t>
            </a:r>
            <a:r>
              <a:rPr lang="en-US" sz="2000" b="1" dirty="0">
                <a:solidFill>
                  <a:schemeClr val="bg1"/>
                </a:solidFill>
                <a:latin typeface="Merriweather" panose="00000500000000000000" pitchFamily="2" charset="0"/>
              </a:rPr>
              <a:t>DAX measures and calculated columns</a:t>
            </a:r>
            <a:r>
              <a:rPr lang="en-US" sz="2000" dirty="0">
                <a:solidFill>
                  <a:schemeClr val="bg1"/>
                </a:solidFill>
                <a:latin typeface="Merriweather" panose="00000500000000000000" pitchFamily="2" charset="0"/>
              </a:rPr>
              <a:t> for analytical insights</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Gained experience in selecting appropriate </a:t>
            </a:r>
            <a:r>
              <a:rPr lang="en-US" sz="2000" b="1" dirty="0">
                <a:solidFill>
                  <a:schemeClr val="bg1"/>
                </a:solidFill>
                <a:latin typeface="Merriweather" panose="00000500000000000000" pitchFamily="2" charset="0"/>
              </a:rPr>
              <a:t>visualizations based on analytical requirements</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Strengthened </a:t>
            </a:r>
            <a:r>
              <a:rPr lang="en-US" sz="2000" b="1" dirty="0">
                <a:solidFill>
                  <a:schemeClr val="bg1"/>
                </a:solidFill>
                <a:latin typeface="Merriweather" panose="00000500000000000000" pitchFamily="2" charset="0"/>
              </a:rPr>
              <a:t>data interpretation skills</a:t>
            </a:r>
            <a:r>
              <a:rPr lang="en-US" sz="2000" dirty="0">
                <a:solidFill>
                  <a:schemeClr val="bg1"/>
                </a:solidFill>
                <a:latin typeface="Merriweather" panose="00000500000000000000" pitchFamily="2" charset="0"/>
              </a:rPr>
              <a:t> by analyzing ratings, customer engagement, and performance patterns</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Improved understanding of </a:t>
            </a:r>
            <a:r>
              <a:rPr lang="en-US" sz="2000" b="1" dirty="0">
                <a:solidFill>
                  <a:schemeClr val="bg1"/>
                </a:solidFill>
                <a:latin typeface="Merriweather" panose="00000500000000000000" pitchFamily="2" charset="0"/>
              </a:rPr>
              <a:t>data modeling concepts</a:t>
            </a:r>
            <a:r>
              <a:rPr lang="en-US" sz="2000" dirty="0">
                <a:solidFill>
                  <a:schemeClr val="bg1"/>
                </a:solidFill>
                <a:latin typeface="Merriweather" panose="00000500000000000000" pitchFamily="2" charset="0"/>
              </a:rPr>
              <a:t> such as relationships, filters, and aggregation</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Developed skills in </a:t>
            </a:r>
            <a:r>
              <a:rPr lang="en-US" sz="2000" b="1" dirty="0">
                <a:solidFill>
                  <a:schemeClr val="bg1"/>
                </a:solidFill>
                <a:latin typeface="Merriweather" panose="00000500000000000000" pitchFamily="2" charset="0"/>
              </a:rPr>
              <a:t>converting raw data into meaningful business insights</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Enhanced ability to work with </a:t>
            </a:r>
            <a:r>
              <a:rPr lang="en-US" sz="2000" b="1" dirty="0">
                <a:solidFill>
                  <a:schemeClr val="bg1"/>
                </a:solidFill>
                <a:latin typeface="Merriweather" panose="00000500000000000000" pitchFamily="2" charset="0"/>
              </a:rPr>
              <a:t>real-world datasets and handle data inconsistencies</a:t>
            </a:r>
          </a:p>
          <a:p>
            <a:endParaRPr lang="en-US" b="1" dirty="0">
              <a:solidFill>
                <a:schemeClr val="bg1"/>
              </a:solidFill>
              <a:latin typeface="Merriweather" panose="00000500000000000000" pitchFamily="2" charset="0"/>
            </a:endParaRPr>
          </a:p>
          <a:p>
            <a:endParaRPr lang="en-US" b="1" dirty="0">
              <a:solidFill>
                <a:schemeClr val="bg1"/>
              </a:solidFill>
              <a:latin typeface="Merriweather" panose="00000500000000000000" pitchFamily="2" charset="0"/>
            </a:endParaRPr>
          </a:p>
          <a:p>
            <a:r>
              <a:rPr lang="en-US" sz="2400" b="1" dirty="0">
                <a:solidFill>
                  <a:schemeClr val="bg1"/>
                </a:solidFill>
                <a:latin typeface="Merriweather" panose="00000500000000000000" pitchFamily="2" charset="0"/>
              </a:rPr>
              <a:t>Practical Outcomes</a:t>
            </a:r>
          </a:p>
          <a:p>
            <a:endParaRPr lang="en-US" sz="2400" b="1" dirty="0">
              <a:solidFill>
                <a:schemeClr val="bg1"/>
              </a:solidFill>
              <a:latin typeface="Merriweather" panose="00000500000000000000" pitchFamily="2" charset="0"/>
            </a:endParaRPr>
          </a:p>
          <a:p>
            <a:pPr lvl="1"/>
            <a:r>
              <a:rPr lang="en-US" sz="2000" dirty="0">
                <a:solidFill>
                  <a:schemeClr val="bg1"/>
                </a:solidFill>
                <a:latin typeface="Merriweather" panose="00000500000000000000" pitchFamily="2" charset="0"/>
              </a:rPr>
              <a:t>• Successfully built </a:t>
            </a:r>
            <a:r>
              <a:rPr lang="en-US" sz="2000" b="1" dirty="0">
                <a:solidFill>
                  <a:schemeClr val="bg1"/>
                </a:solidFill>
                <a:latin typeface="Merriweather" panose="00000500000000000000" pitchFamily="2" charset="0"/>
              </a:rPr>
              <a:t>interactive Power BI dashboards</a:t>
            </a:r>
            <a:r>
              <a:rPr lang="en-US" sz="2000" dirty="0">
                <a:solidFill>
                  <a:schemeClr val="bg1"/>
                </a:solidFill>
                <a:latin typeface="Merriweather" panose="00000500000000000000" pitchFamily="2" charset="0"/>
              </a:rPr>
              <a:t> for restaurant performance analysis</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Transformed a raw dataset into a </a:t>
            </a:r>
            <a:r>
              <a:rPr lang="en-US" sz="2000" b="1" dirty="0">
                <a:solidFill>
                  <a:schemeClr val="bg1"/>
                </a:solidFill>
                <a:latin typeface="Merriweather" panose="00000500000000000000" pitchFamily="2" charset="0"/>
              </a:rPr>
              <a:t>structured analytical framework</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Identified </a:t>
            </a:r>
            <a:r>
              <a:rPr lang="en-US" sz="2000" b="1" dirty="0">
                <a:solidFill>
                  <a:schemeClr val="bg1"/>
                </a:solidFill>
                <a:latin typeface="Merriweather" panose="00000500000000000000" pitchFamily="2" charset="0"/>
              </a:rPr>
              <a:t>customer engagement patterns and rating reliability trends</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Categorized restaurants based on performance for </a:t>
            </a:r>
            <a:r>
              <a:rPr lang="en-US" sz="2000" b="1" dirty="0">
                <a:solidFill>
                  <a:schemeClr val="bg1"/>
                </a:solidFill>
                <a:latin typeface="Merriweather" panose="00000500000000000000" pitchFamily="2" charset="0"/>
              </a:rPr>
              <a:t>strategic prioritization</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Created a system that supports </a:t>
            </a:r>
            <a:r>
              <a:rPr lang="en-US" sz="2000" b="1" dirty="0">
                <a:solidFill>
                  <a:schemeClr val="bg1"/>
                </a:solidFill>
                <a:latin typeface="Merriweather" panose="00000500000000000000" pitchFamily="2" charset="0"/>
              </a:rPr>
              <a:t>data-driven decision-making</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Gained hands-on experience in </a:t>
            </a:r>
            <a:r>
              <a:rPr lang="en-US" sz="2000" b="1" dirty="0">
                <a:solidFill>
                  <a:schemeClr val="bg1"/>
                </a:solidFill>
                <a:latin typeface="Merriweather" panose="00000500000000000000" pitchFamily="2" charset="0"/>
              </a:rPr>
              <a:t>end-to-end data analytics workflow</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Developed practical exposure to </a:t>
            </a:r>
            <a:r>
              <a:rPr lang="en-US" sz="2000" b="1" dirty="0">
                <a:solidFill>
                  <a:schemeClr val="bg1"/>
                </a:solidFill>
                <a:latin typeface="Merriweather" panose="00000500000000000000" pitchFamily="2" charset="0"/>
              </a:rPr>
              <a:t>business intelligence tools used in industry</a:t>
            </a:r>
            <a:br>
              <a:rPr lang="en-US" sz="2000" dirty="0">
                <a:solidFill>
                  <a:schemeClr val="bg1"/>
                </a:solidFill>
                <a:latin typeface="Merriweather" panose="00000500000000000000" pitchFamily="2" charset="0"/>
              </a:rPr>
            </a:br>
            <a:r>
              <a:rPr lang="en-US" sz="2000" dirty="0">
                <a:solidFill>
                  <a:schemeClr val="bg1"/>
                </a:solidFill>
                <a:latin typeface="Merriweather" panose="00000500000000000000" pitchFamily="2" charset="0"/>
              </a:rPr>
              <a:t>• Improved confidence in handling </a:t>
            </a:r>
            <a:r>
              <a:rPr lang="en-US" sz="2000" b="1" dirty="0">
                <a:solidFill>
                  <a:schemeClr val="bg1"/>
                </a:solidFill>
                <a:latin typeface="Merriweather" panose="00000500000000000000" pitchFamily="2" charset="0"/>
              </a:rPr>
              <a:t>real-world analytics projects independently</a:t>
            </a:r>
            <a:endParaRPr lang="en-US" sz="2000" dirty="0">
              <a:solidFill>
                <a:schemeClr val="bg1"/>
              </a:solidFill>
              <a:latin typeface="Merriweather" panose="00000500000000000000" pitchFamily="2" charset="0"/>
            </a:endParaRPr>
          </a:p>
          <a:p>
            <a:endParaRPr lang="en-US" dirty="0">
              <a:solidFill>
                <a:schemeClr val="bg1"/>
              </a:solidFill>
              <a:latin typeface="Merriweather"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1079744" y="991191"/>
            <a:ext cx="14556420" cy="933589"/>
          </a:xfrm>
          <a:prstGeom prst="rect">
            <a:avLst/>
          </a:prstGeom>
        </p:spPr>
        <p:txBody>
          <a:bodyPr wrap="square" lIns="0" tIns="0" rIns="0" bIns="0" rtlCol="0" anchor="t">
            <a:spAutoFit/>
          </a:bodyPr>
          <a:lstStyle/>
          <a:p>
            <a:pPr algn="l">
              <a:lnSpc>
                <a:spcPts val="7562"/>
              </a:lnSpc>
            </a:pPr>
            <a:r>
              <a:rPr lang="en-US" sz="6062" dirty="0">
                <a:solidFill>
                  <a:srgbClr val="F5F0F0"/>
                </a:solidFill>
                <a:latin typeface="Merriweather"/>
                <a:ea typeface="Merriweather"/>
                <a:cs typeface="Merriweather"/>
                <a:sym typeface="Merriweather"/>
              </a:rPr>
              <a:t>Key Findings &amp; Strategic Implications</a:t>
            </a:r>
          </a:p>
        </p:txBody>
      </p:sp>
      <p:grpSp>
        <p:nvGrpSpPr>
          <p:cNvPr id="7" name="Group 7"/>
          <p:cNvGrpSpPr/>
          <p:nvPr/>
        </p:nvGrpSpPr>
        <p:grpSpPr>
          <a:xfrm>
            <a:off x="1079744" y="2600916"/>
            <a:ext cx="2170805" cy="2170805"/>
            <a:chOff x="0" y="0"/>
            <a:chExt cx="2894406" cy="2894406"/>
          </a:xfrm>
        </p:grpSpPr>
        <p:sp>
          <p:nvSpPr>
            <p:cNvPr id="8" name="Freeform 8" descr="preencoded.png"/>
            <p:cNvSpPr/>
            <p:nvPr/>
          </p:nvSpPr>
          <p:spPr>
            <a:xfrm>
              <a:off x="0" y="0"/>
              <a:ext cx="2894457" cy="2894457"/>
            </a:xfrm>
            <a:custGeom>
              <a:avLst/>
              <a:gdLst/>
              <a:ahLst/>
              <a:cxnLst/>
              <a:rect l="l" t="t" r="r" b="b"/>
              <a:pathLst>
                <a:path w="2894457" h="2894457">
                  <a:moveTo>
                    <a:pt x="0" y="0"/>
                  </a:moveTo>
                  <a:lnTo>
                    <a:pt x="2894457" y="0"/>
                  </a:lnTo>
                  <a:lnTo>
                    <a:pt x="2894457" y="2894457"/>
                  </a:lnTo>
                  <a:lnTo>
                    <a:pt x="0" y="2894457"/>
                  </a:lnTo>
                  <a:lnTo>
                    <a:pt x="0" y="0"/>
                  </a:lnTo>
                  <a:close/>
                </a:path>
              </a:pathLst>
            </a:custGeom>
            <a:blipFill>
              <a:blip r:embed="rId4"/>
              <a:stretch>
                <a:fillRect r="1" b="1"/>
              </a:stretch>
            </a:blipFill>
          </p:spPr>
        </p:sp>
      </p:grpSp>
      <p:sp>
        <p:nvSpPr>
          <p:cNvPr id="9" name="TextBox 9"/>
          <p:cNvSpPr txBox="1"/>
          <p:nvPr/>
        </p:nvSpPr>
        <p:spPr>
          <a:xfrm>
            <a:off x="1079744" y="5147815"/>
            <a:ext cx="3742877" cy="973341"/>
          </a:xfrm>
          <a:prstGeom prst="rect">
            <a:avLst/>
          </a:prstGeom>
        </p:spPr>
        <p:txBody>
          <a:bodyPr lIns="0" tIns="0" rIns="0" bIns="0" rtlCol="0" anchor="t">
            <a:spAutoFit/>
          </a:bodyPr>
          <a:lstStyle/>
          <a:p>
            <a:pPr algn="l">
              <a:lnSpc>
                <a:spcPts val="3749"/>
              </a:lnSpc>
            </a:pPr>
            <a:r>
              <a:rPr lang="en-US" sz="3000">
                <a:solidFill>
                  <a:srgbClr val="E2E6E9"/>
                </a:solidFill>
                <a:latin typeface="Merriweather"/>
                <a:ea typeface="Merriweather"/>
                <a:cs typeface="Merriweather"/>
                <a:sym typeface="Merriweather"/>
              </a:rPr>
              <a:t>Engagement Drives Reliability</a:t>
            </a:r>
          </a:p>
        </p:txBody>
      </p:sp>
      <p:sp>
        <p:nvSpPr>
          <p:cNvPr id="10" name="TextBox 10"/>
          <p:cNvSpPr txBox="1"/>
          <p:nvPr/>
        </p:nvSpPr>
        <p:spPr>
          <a:xfrm>
            <a:off x="1079744" y="6210891"/>
            <a:ext cx="3742877" cy="3056334"/>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Restaurants with higher vote participation demonstrate more stable and trustworthy ratings, indicating quality consistency.</a:t>
            </a:r>
          </a:p>
        </p:txBody>
      </p:sp>
      <p:grpSp>
        <p:nvGrpSpPr>
          <p:cNvPr id="11" name="Group 11"/>
          <p:cNvGrpSpPr/>
          <p:nvPr/>
        </p:nvGrpSpPr>
        <p:grpSpPr>
          <a:xfrm>
            <a:off x="5208241" y="2600916"/>
            <a:ext cx="2170805" cy="2170805"/>
            <a:chOff x="0" y="0"/>
            <a:chExt cx="2894406" cy="2894406"/>
          </a:xfrm>
        </p:grpSpPr>
        <p:sp>
          <p:nvSpPr>
            <p:cNvPr id="12" name="Freeform 12" descr="preencoded.png"/>
            <p:cNvSpPr/>
            <p:nvPr/>
          </p:nvSpPr>
          <p:spPr>
            <a:xfrm>
              <a:off x="0" y="0"/>
              <a:ext cx="2894457" cy="2894457"/>
            </a:xfrm>
            <a:custGeom>
              <a:avLst/>
              <a:gdLst/>
              <a:ahLst/>
              <a:cxnLst/>
              <a:rect l="l" t="t" r="r" b="b"/>
              <a:pathLst>
                <a:path w="2894457" h="2894457">
                  <a:moveTo>
                    <a:pt x="0" y="0"/>
                  </a:moveTo>
                  <a:lnTo>
                    <a:pt x="2894457" y="0"/>
                  </a:lnTo>
                  <a:lnTo>
                    <a:pt x="2894457" y="2894457"/>
                  </a:lnTo>
                  <a:lnTo>
                    <a:pt x="0" y="2894457"/>
                  </a:lnTo>
                  <a:lnTo>
                    <a:pt x="0" y="0"/>
                  </a:lnTo>
                  <a:close/>
                </a:path>
              </a:pathLst>
            </a:custGeom>
            <a:blipFill>
              <a:blip r:embed="rId5"/>
              <a:stretch>
                <a:fillRect r="1" b="1"/>
              </a:stretch>
            </a:blipFill>
          </p:spPr>
        </p:sp>
      </p:grpSp>
      <p:sp>
        <p:nvSpPr>
          <p:cNvPr id="13" name="TextBox 13"/>
          <p:cNvSpPr txBox="1"/>
          <p:nvPr/>
        </p:nvSpPr>
        <p:spPr>
          <a:xfrm>
            <a:off x="5208241" y="5147815"/>
            <a:ext cx="3742877" cy="973341"/>
          </a:xfrm>
          <a:prstGeom prst="rect">
            <a:avLst/>
          </a:prstGeom>
        </p:spPr>
        <p:txBody>
          <a:bodyPr lIns="0" tIns="0" rIns="0" bIns="0" rtlCol="0" anchor="t">
            <a:spAutoFit/>
          </a:bodyPr>
          <a:lstStyle/>
          <a:p>
            <a:pPr algn="l">
              <a:lnSpc>
                <a:spcPts val="3749"/>
              </a:lnSpc>
            </a:pPr>
            <a:r>
              <a:rPr lang="en-US" sz="3000">
                <a:solidFill>
                  <a:srgbClr val="E2E6E9"/>
                </a:solidFill>
                <a:latin typeface="Merriweather"/>
                <a:ea typeface="Merriweather"/>
                <a:cs typeface="Merriweather"/>
                <a:sym typeface="Merriweather"/>
              </a:rPr>
              <a:t>Cuisine &amp; Pricing Impact</a:t>
            </a:r>
          </a:p>
        </p:txBody>
      </p:sp>
      <p:sp>
        <p:nvSpPr>
          <p:cNvPr id="14" name="TextBox 14"/>
          <p:cNvSpPr txBox="1"/>
          <p:nvPr/>
        </p:nvSpPr>
        <p:spPr>
          <a:xfrm>
            <a:off x="5208241" y="6210891"/>
            <a:ext cx="3742877" cy="2562816"/>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Customer interaction is significantly influenced by cuisine preferences and pricing strategies across different markets.</a:t>
            </a:r>
          </a:p>
        </p:txBody>
      </p:sp>
      <p:grpSp>
        <p:nvGrpSpPr>
          <p:cNvPr id="15" name="Group 15"/>
          <p:cNvGrpSpPr/>
          <p:nvPr/>
        </p:nvGrpSpPr>
        <p:grpSpPr>
          <a:xfrm>
            <a:off x="9336729" y="2600916"/>
            <a:ext cx="2170805" cy="2170805"/>
            <a:chOff x="0" y="0"/>
            <a:chExt cx="2894406" cy="2894406"/>
          </a:xfrm>
        </p:grpSpPr>
        <p:sp>
          <p:nvSpPr>
            <p:cNvPr id="16" name="Freeform 16" descr="preencoded.png"/>
            <p:cNvSpPr/>
            <p:nvPr/>
          </p:nvSpPr>
          <p:spPr>
            <a:xfrm>
              <a:off x="0" y="0"/>
              <a:ext cx="2894457" cy="2894457"/>
            </a:xfrm>
            <a:custGeom>
              <a:avLst/>
              <a:gdLst/>
              <a:ahLst/>
              <a:cxnLst/>
              <a:rect l="l" t="t" r="r" b="b"/>
              <a:pathLst>
                <a:path w="2894457" h="2894457">
                  <a:moveTo>
                    <a:pt x="0" y="0"/>
                  </a:moveTo>
                  <a:lnTo>
                    <a:pt x="2894457" y="0"/>
                  </a:lnTo>
                  <a:lnTo>
                    <a:pt x="2894457" y="2894457"/>
                  </a:lnTo>
                  <a:lnTo>
                    <a:pt x="0" y="2894457"/>
                  </a:lnTo>
                  <a:lnTo>
                    <a:pt x="0" y="0"/>
                  </a:lnTo>
                  <a:close/>
                </a:path>
              </a:pathLst>
            </a:custGeom>
            <a:blipFill>
              <a:blip r:embed="rId6"/>
              <a:stretch>
                <a:fillRect r="1" b="1"/>
              </a:stretch>
            </a:blipFill>
          </p:spPr>
        </p:sp>
      </p:grpSp>
      <p:sp>
        <p:nvSpPr>
          <p:cNvPr id="17" name="TextBox 17"/>
          <p:cNvSpPr txBox="1"/>
          <p:nvPr/>
        </p:nvSpPr>
        <p:spPr>
          <a:xfrm>
            <a:off x="9336729" y="5147815"/>
            <a:ext cx="3742877" cy="973341"/>
          </a:xfrm>
          <a:prstGeom prst="rect">
            <a:avLst/>
          </a:prstGeom>
        </p:spPr>
        <p:txBody>
          <a:bodyPr lIns="0" tIns="0" rIns="0" bIns="0" rtlCol="0" anchor="t">
            <a:spAutoFit/>
          </a:bodyPr>
          <a:lstStyle/>
          <a:p>
            <a:pPr algn="l">
              <a:lnSpc>
                <a:spcPts val="3749"/>
              </a:lnSpc>
            </a:pPr>
            <a:r>
              <a:rPr lang="en-US" sz="3000">
                <a:solidFill>
                  <a:srgbClr val="E2E6E9"/>
                </a:solidFill>
                <a:latin typeface="Merriweather"/>
                <a:ea typeface="Merriweather"/>
                <a:cs typeface="Merriweather"/>
                <a:sym typeface="Merriweather"/>
              </a:rPr>
              <a:t>Service Features Matter</a:t>
            </a:r>
          </a:p>
        </p:txBody>
      </p:sp>
      <p:sp>
        <p:nvSpPr>
          <p:cNvPr id="18" name="TextBox 18"/>
          <p:cNvSpPr txBox="1"/>
          <p:nvPr/>
        </p:nvSpPr>
        <p:spPr>
          <a:xfrm>
            <a:off x="9336729" y="6210891"/>
            <a:ext cx="3742877" cy="2562816"/>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Online delivery and accessibility features improve customer engagement and expand market reach effectively.</a:t>
            </a:r>
          </a:p>
        </p:txBody>
      </p:sp>
      <p:grpSp>
        <p:nvGrpSpPr>
          <p:cNvPr id="19" name="Group 19"/>
          <p:cNvGrpSpPr/>
          <p:nvPr/>
        </p:nvGrpSpPr>
        <p:grpSpPr>
          <a:xfrm>
            <a:off x="13465226" y="2600916"/>
            <a:ext cx="2170957" cy="2170957"/>
            <a:chOff x="0" y="0"/>
            <a:chExt cx="2894609" cy="2894609"/>
          </a:xfrm>
        </p:grpSpPr>
        <p:sp>
          <p:nvSpPr>
            <p:cNvPr id="20" name="Freeform 20" descr="preencoded.png"/>
            <p:cNvSpPr/>
            <p:nvPr/>
          </p:nvSpPr>
          <p:spPr>
            <a:xfrm>
              <a:off x="0" y="0"/>
              <a:ext cx="2894584" cy="2894584"/>
            </a:xfrm>
            <a:custGeom>
              <a:avLst/>
              <a:gdLst/>
              <a:ahLst/>
              <a:cxnLst/>
              <a:rect l="l" t="t" r="r" b="b"/>
              <a:pathLst>
                <a:path w="2894584" h="2894584">
                  <a:moveTo>
                    <a:pt x="0" y="0"/>
                  </a:moveTo>
                  <a:lnTo>
                    <a:pt x="2894584" y="0"/>
                  </a:lnTo>
                  <a:lnTo>
                    <a:pt x="2894584" y="2894584"/>
                  </a:lnTo>
                  <a:lnTo>
                    <a:pt x="0" y="2894584"/>
                  </a:lnTo>
                  <a:lnTo>
                    <a:pt x="0" y="0"/>
                  </a:lnTo>
                  <a:close/>
                </a:path>
              </a:pathLst>
            </a:custGeom>
            <a:blipFill>
              <a:blip r:embed="rId7"/>
              <a:stretch>
                <a:fillRect/>
              </a:stretch>
            </a:blipFill>
          </p:spPr>
        </p:sp>
      </p:grpSp>
      <p:sp>
        <p:nvSpPr>
          <p:cNvPr id="21" name="TextBox 21"/>
          <p:cNvSpPr txBox="1"/>
          <p:nvPr/>
        </p:nvSpPr>
        <p:spPr>
          <a:xfrm>
            <a:off x="13465226" y="5147967"/>
            <a:ext cx="3743030" cy="491433"/>
          </a:xfrm>
          <a:prstGeom prst="rect">
            <a:avLst/>
          </a:prstGeom>
        </p:spPr>
        <p:txBody>
          <a:bodyPr lIns="0" tIns="0" rIns="0" bIns="0" rtlCol="0" anchor="t">
            <a:spAutoFit/>
          </a:bodyPr>
          <a:lstStyle/>
          <a:p>
            <a:pPr algn="l">
              <a:lnSpc>
                <a:spcPts val="3749"/>
              </a:lnSpc>
            </a:pPr>
            <a:r>
              <a:rPr lang="en-US" sz="3000">
                <a:solidFill>
                  <a:srgbClr val="E2E6E9"/>
                </a:solidFill>
                <a:latin typeface="Merriweather"/>
                <a:ea typeface="Merriweather"/>
                <a:cs typeface="Merriweather"/>
                <a:sym typeface="Merriweather"/>
              </a:rPr>
              <a:t>Regional Variations</a:t>
            </a:r>
          </a:p>
        </p:txBody>
      </p:sp>
      <p:sp>
        <p:nvSpPr>
          <p:cNvPr id="22" name="TextBox 22"/>
          <p:cNvSpPr txBox="1"/>
          <p:nvPr/>
        </p:nvSpPr>
        <p:spPr>
          <a:xfrm>
            <a:off x="13465226" y="5729135"/>
            <a:ext cx="3743030" cy="3056334"/>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Significant performance differences across locations highlight the importance of regional analysis and localized strategies.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2307977" y="1134176"/>
            <a:ext cx="3483223" cy="538062"/>
            <a:chOff x="0" y="0"/>
            <a:chExt cx="2139747" cy="429412"/>
          </a:xfrm>
        </p:grpSpPr>
        <p:sp>
          <p:nvSpPr>
            <p:cNvPr id="7" name="Freeform 7"/>
            <p:cNvSpPr/>
            <p:nvPr/>
          </p:nvSpPr>
          <p:spPr>
            <a:xfrm>
              <a:off x="0" y="0"/>
              <a:ext cx="2139696" cy="429514"/>
            </a:xfrm>
            <a:custGeom>
              <a:avLst/>
              <a:gdLst/>
              <a:ahLst/>
              <a:cxnLst/>
              <a:rect l="l" t="t" r="r" b="b"/>
              <a:pathLst>
                <a:path w="2139696" h="429514">
                  <a:moveTo>
                    <a:pt x="0" y="87757"/>
                  </a:moveTo>
                  <a:cubicBezTo>
                    <a:pt x="0" y="39116"/>
                    <a:pt x="40259" y="0"/>
                    <a:pt x="89662" y="0"/>
                  </a:cubicBezTo>
                  <a:lnTo>
                    <a:pt x="2050034" y="0"/>
                  </a:lnTo>
                  <a:lnTo>
                    <a:pt x="2050034" y="6350"/>
                  </a:lnTo>
                  <a:lnTo>
                    <a:pt x="2050034" y="0"/>
                  </a:lnTo>
                  <a:cubicBezTo>
                    <a:pt x="2099437" y="0"/>
                    <a:pt x="2139696" y="39116"/>
                    <a:pt x="2139696" y="87757"/>
                  </a:cubicBezTo>
                  <a:lnTo>
                    <a:pt x="2133346" y="87757"/>
                  </a:lnTo>
                  <a:lnTo>
                    <a:pt x="2139696" y="87757"/>
                  </a:lnTo>
                  <a:lnTo>
                    <a:pt x="2139696" y="341757"/>
                  </a:lnTo>
                  <a:lnTo>
                    <a:pt x="2133346" y="341757"/>
                  </a:lnTo>
                  <a:lnTo>
                    <a:pt x="2139696" y="341757"/>
                  </a:lnTo>
                  <a:cubicBezTo>
                    <a:pt x="2139696" y="390398"/>
                    <a:pt x="2099437" y="429514"/>
                    <a:pt x="2050034" y="429514"/>
                  </a:cubicBezTo>
                  <a:lnTo>
                    <a:pt x="2050034" y="423164"/>
                  </a:lnTo>
                  <a:lnTo>
                    <a:pt x="2050034" y="429514"/>
                  </a:lnTo>
                  <a:lnTo>
                    <a:pt x="89662" y="429514"/>
                  </a:lnTo>
                  <a:lnTo>
                    <a:pt x="89662" y="423164"/>
                  </a:lnTo>
                  <a:lnTo>
                    <a:pt x="89662" y="429514"/>
                  </a:lnTo>
                  <a:cubicBezTo>
                    <a:pt x="40259" y="429387"/>
                    <a:pt x="0" y="390271"/>
                    <a:pt x="0" y="341757"/>
                  </a:cubicBezTo>
                  <a:lnTo>
                    <a:pt x="0" y="87757"/>
                  </a:lnTo>
                  <a:lnTo>
                    <a:pt x="6350" y="87757"/>
                  </a:lnTo>
                  <a:lnTo>
                    <a:pt x="0" y="87757"/>
                  </a:lnTo>
                  <a:moveTo>
                    <a:pt x="12700" y="87757"/>
                  </a:moveTo>
                  <a:lnTo>
                    <a:pt x="12700" y="341757"/>
                  </a:lnTo>
                  <a:lnTo>
                    <a:pt x="6350" y="341757"/>
                  </a:lnTo>
                  <a:lnTo>
                    <a:pt x="12700" y="341757"/>
                  </a:lnTo>
                  <a:cubicBezTo>
                    <a:pt x="12700" y="383032"/>
                    <a:pt x="46990" y="416814"/>
                    <a:pt x="89662" y="416814"/>
                  </a:cubicBezTo>
                  <a:lnTo>
                    <a:pt x="2050034" y="416814"/>
                  </a:lnTo>
                  <a:cubicBezTo>
                    <a:pt x="2092706" y="416814"/>
                    <a:pt x="2126996" y="383032"/>
                    <a:pt x="2126996" y="341757"/>
                  </a:cubicBezTo>
                  <a:lnTo>
                    <a:pt x="2126996" y="87757"/>
                  </a:lnTo>
                  <a:cubicBezTo>
                    <a:pt x="2126996" y="46482"/>
                    <a:pt x="2092706" y="12700"/>
                    <a:pt x="2050034" y="12700"/>
                  </a:cubicBezTo>
                  <a:lnTo>
                    <a:pt x="89662" y="12700"/>
                  </a:lnTo>
                  <a:lnTo>
                    <a:pt x="89662" y="6350"/>
                  </a:lnTo>
                  <a:lnTo>
                    <a:pt x="89662" y="12700"/>
                  </a:lnTo>
                  <a:cubicBezTo>
                    <a:pt x="46990" y="12700"/>
                    <a:pt x="12700" y="46482"/>
                    <a:pt x="12700" y="87757"/>
                  </a:cubicBezTo>
                  <a:close/>
                </a:path>
              </a:pathLst>
            </a:custGeom>
            <a:solidFill>
              <a:srgbClr val="609DFF"/>
            </a:solidFill>
          </p:spPr>
        </p:sp>
      </p:grpSp>
      <p:sp>
        <p:nvSpPr>
          <p:cNvPr id="8" name="Freeform 8" descr="preencoded.png"/>
          <p:cNvSpPr/>
          <p:nvPr/>
        </p:nvSpPr>
        <p:spPr>
          <a:xfrm>
            <a:off x="2361457" y="1263715"/>
            <a:ext cx="274796" cy="274796"/>
          </a:xfrm>
          <a:custGeom>
            <a:avLst/>
            <a:gdLst/>
            <a:ahLst/>
            <a:cxnLst/>
            <a:rect l="l" t="t" r="r" b="b"/>
            <a:pathLst>
              <a:path w="274796" h="274796">
                <a:moveTo>
                  <a:pt x="0" y="0"/>
                </a:moveTo>
                <a:lnTo>
                  <a:pt x="274795" y="0"/>
                </a:lnTo>
                <a:lnTo>
                  <a:pt x="274795" y="274796"/>
                </a:lnTo>
                <a:lnTo>
                  <a:pt x="0" y="274796"/>
                </a:lnTo>
                <a:lnTo>
                  <a:pt x="0" y="0"/>
                </a:lnTo>
                <a:close/>
              </a:path>
            </a:pathLst>
          </a:custGeom>
          <a:blipFill>
            <a:blip r:embed="rId4">
              <a:extLst>
                <a:ext uri="{96DAC541-7B7A-43D3-8B79-37D633B846F1}">
                  <asvg:svgBlip xmlns:asvg="http://schemas.microsoft.com/office/drawing/2016/SVG/main" r:embed="rId5"/>
                </a:ext>
              </a:extLst>
            </a:blip>
            <a:stretch>
              <a:fillRect t="-3127" b="-3121"/>
            </a:stretch>
          </a:blipFill>
        </p:spPr>
      </p:sp>
      <p:sp>
        <p:nvSpPr>
          <p:cNvPr id="9" name="TextBox 9"/>
          <p:cNvSpPr txBox="1"/>
          <p:nvPr/>
        </p:nvSpPr>
        <p:spPr>
          <a:xfrm>
            <a:off x="2693260" y="1204585"/>
            <a:ext cx="2945540" cy="232564"/>
          </a:xfrm>
          <a:prstGeom prst="rect">
            <a:avLst/>
          </a:prstGeom>
        </p:spPr>
        <p:txBody>
          <a:bodyPr wrap="square" lIns="0" tIns="0" rIns="0" bIns="0" rtlCol="0" anchor="t">
            <a:spAutoFit/>
          </a:bodyPr>
          <a:lstStyle/>
          <a:p>
            <a:pPr algn="l">
              <a:lnSpc>
                <a:spcPts val="1904"/>
              </a:lnSpc>
            </a:pPr>
            <a:r>
              <a:rPr lang="en-US" sz="1490" dirty="0">
                <a:solidFill>
                  <a:srgbClr val="609DFF"/>
                </a:solidFill>
                <a:latin typeface="Merriweather"/>
                <a:ea typeface="Merriweather"/>
                <a:cs typeface="Merriweather"/>
                <a:sym typeface="Merriweather"/>
              </a:rPr>
              <a:t>FUTURE 	ENHANCEMENT</a:t>
            </a:r>
          </a:p>
        </p:txBody>
      </p:sp>
      <p:sp>
        <p:nvSpPr>
          <p:cNvPr id="10" name="TextBox 10"/>
          <p:cNvSpPr txBox="1"/>
          <p:nvPr/>
        </p:nvSpPr>
        <p:spPr>
          <a:xfrm>
            <a:off x="2361457" y="2000107"/>
            <a:ext cx="8217846" cy="586378"/>
          </a:xfrm>
          <a:prstGeom prst="rect">
            <a:avLst/>
          </a:prstGeom>
        </p:spPr>
        <p:txBody>
          <a:bodyPr lIns="0" tIns="0" rIns="0" bIns="0" rtlCol="0" anchor="t">
            <a:spAutoFit/>
          </a:bodyPr>
          <a:lstStyle/>
          <a:p>
            <a:pPr algn="l">
              <a:lnSpc>
                <a:spcPts val="4437"/>
              </a:lnSpc>
            </a:pPr>
            <a:r>
              <a:rPr lang="en-US" sz="3562" dirty="0">
                <a:solidFill>
                  <a:srgbClr val="F5F0F0"/>
                </a:solidFill>
                <a:latin typeface="Merriweather"/>
                <a:ea typeface="Merriweather"/>
                <a:cs typeface="Merriweather"/>
                <a:sym typeface="Merriweather"/>
              </a:rPr>
              <a:t>Potential Enhancements &amp; Next Steps</a:t>
            </a:r>
          </a:p>
        </p:txBody>
      </p:sp>
      <p:grpSp>
        <p:nvGrpSpPr>
          <p:cNvPr id="11" name="Group 11"/>
          <p:cNvGrpSpPr/>
          <p:nvPr/>
        </p:nvGrpSpPr>
        <p:grpSpPr>
          <a:xfrm>
            <a:off x="1375025" y="3795863"/>
            <a:ext cx="9153626" cy="3181922"/>
            <a:chOff x="1392852" y="214643"/>
            <a:chExt cx="9665081" cy="4242562"/>
          </a:xfrm>
        </p:grpSpPr>
        <p:sp>
          <p:nvSpPr>
            <p:cNvPr id="12" name="Freeform 12" descr="preencoded.png"/>
            <p:cNvSpPr/>
            <p:nvPr/>
          </p:nvSpPr>
          <p:spPr>
            <a:xfrm>
              <a:off x="1392852" y="214643"/>
              <a:ext cx="9665081" cy="4242562"/>
            </a:xfrm>
            <a:custGeom>
              <a:avLst/>
              <a:gdLst/>
              <a:ahLst/>
              <a:cxnLst/>
              <a:rect l="l" t="t" r="r" b="b"/>
              <a:pathLst>
                <a:path w="9665081" h="4242562">
                  <a:moveTo>
                    <a:pt x="0" y="0"/>
                  </a:moveTo>
                  <a:lnTo>
                    <a:pt x="9665081" y="0"/>
                  </a:lnTo>
                  <a:lnTo>
                    <a:pt x="9665081" y="4242562"/>
                  </a:lnTo>
                  <a:lnTo>
                    <a:pt x="0" y="4242562"/>
                  </a:lnTo>
                  <a:lnTo>
                    <a:pt x="0" y="0"/>
                  </a:lnTo>
                  <a:close/>
                </a:path>
              </a:pathLst>
            </a:custGeom>
            <a:blipFill>
              <a:blip r:embed="rId6"/>
              <a:stretch>
                <a:fillRect l="-7" r="-7"/>
              </a:stretch>
            </a:blipFill>
          </p:spPr>
        </p:sp>
      </p:grpSp>
      <p:sp>
        <p:nvSpPr>
          <p:cNvPr id="13" name="TextBox 13"/>
          <p:cNvSpPr txBox="1"/>
          <p:nvPr/>
        </p:nvSpPr>
        <p:spPr>
          <a:xfrm>
            <a:off x="3052100" y="5935492"/>
            <a:ext cx="1270616" cy="384721"/>
          </a:xfrm>
          <a:prstGeom prst="rect">
            <a:avLst/>
          </a:prstGeom>
        </p:spPr>
        <p:txBody>
          <a:bodyPr lIns="0" tIns="0" rIns="0" bIns="0" rtlCol="0" anchor="t">
            <a:spAutoFit/>
          </a:bodyPr>
          <a:lstStyle/>
          <a:p>
            <a:pPr algn="ctr">
              <a:lnSpc>
                <a:spcPts val="1500"/>
              </a:lnSpc>
            </a:pPr>
            <a:r>
              <a:rPr lang="en-US" sz="1400" dirty="0">
                <a:solidFill>
                  <a:srgbClr val="F5F0F0"/>
                </a:solidFill>
                <a:latin typeface="Merriweather"/>
                <a:ea typeface="Merriweather"/>
                <a:cs typeface="Merriweather"/>
                <a:sym typeface="Merriweather"/>
              </a:rPr>
              <a:t>Real-time Integration</a:t>
            </a:r>
          </a:p>
        </p:txBody>
      </p:sp>
      <p:sp>
        <p:nvSpPr>
          <p:cNvPr id="14" name="TextBox 14"/>
          <p:cNvSpPr txBox="1"/>
          <p:nvPr/>
        </p:nvSpPr>
        <p:spPr>
          <a:xfrm flipH="1">
            <a:off x="2889094" y="6391202"/>
            <a:ext cx="1789300" cy="123367"/>
          </a:xfrm>
          <a:prstGeom prst="rect">
            <a:avLst/>
          </a:prstGeom>
        </p:spPr>
        <p:txBody>
          <a:bodyPr wrap="square" lIns="0" tIns="0" rIns="0" bIns="0" rtlCol="0" anchor="t">
            <a:spAutoFit/>
          </a:bodyPr>
          <a:lstStyle/>
          <a:p>
            <a:pPr algn="ctr">
              <a:lnSpc>
                <a:spcPts val="937"/>
              </a:lnSpc>
            </a:pPr>
            <a:r>
              <a:rPr lang="en-US" sz="937" dirty="0">
                <a:solidFill>
                  <a:srgbClr val="E2E6E9"/>
                </a:solidFill>
                <a:latin typeface="Merriweather"/>
                <a:ea typeface="Merriweather"/>
                <a:cs typeface="Merriweather"/>
                <a:sym typeface="Merriweather"/>
              </a:rPr>
              <a:t>Ingest live </a:t>
            </a:r>
            <a:r>
              <a:rPr lang="en-US" sz="1100" dirty="0">
                <a:solidFill>
                  <a:srgbClr val="E2E6E9"/>
                </a:solidFill>
                <a:latin typeface="Merriweather"/>
                <a:ea typeface="Merriweather"/>
                <a:cs typeface="Merriweather"/>
                <a:sym typeface="Merriweather"/>
              </a:rPr>
              <a:t>data</a:t>
            </a:r>
            <a:r>
              <a:rPr lang="en-US" sz="937" dirty="0">
                <a:solidFill>
                  <a:srgbClr val="E2E6E9"/>
                </a:solidFill>
                <a:latin typeface="Merriweather"/>
                <a:ea typeface="Merriweather"/>
                <a:cs typeface="Merriweather"/>
                <a:sym typeface="Merriweather"/>
              </a:rPr>
              <a:t> feeds</a:t>
            </a:r>
          </a:p>
        </p:txBody>
      </p:sp>
      <p:sp>
        <p:nvSpPr>
          <p:cNvPr id="15" name="TextBox 15"/>
          <p:cNvSpPr txBox="1"/>
          <p:nvPr/>
        </p:nvSpPr>
        <p:spPr>
          <a:xfrm>
            <a:off x="7391400" y="5691307"/>
            <a:ext cx="1752599" cy="384721"/>
          </a:xfrm>
          <a:prstGeom prst="rect">
            <a:avLst/>
          </a:prstGeom>
        </p:spPr>
        <p:txBody>
          <a:bodyPr wrap="square" lIns="0" tIns="0" rIns="0" bIns="0" rtlCol="0" anchor="t">
            <a:spAutoFit/>
          </a:bodyPr>
          <a:lstStyle/>
          <a:p>
            <a:pPr algn="ctr">
              <a:lnSpc>
                <a:spcPts val="1500"/>
              </a:lnSpc>
            </a:pPr>
            <a:r>
              <a:rPr lang="en-US" sz="1400" dirty="0">
                <a:solidFill>
                  <a:srgbClr val="F5F0F0"/>
                </a:solidFill>
                <a:latin typeface="Merriweather"/>
                <a:ea typeface="Merriweather"/>
                <a:cs typeface="Merriweather"/>
                <a:sym typeface="Merriweather"/>
              </a:rPr>
              <a:t>Advanced Recommendations</a:t>
            </a:r>
          </a:p>
        </p:txBody>
      </p:sp>
      <p:sp>
        <p:nvSpPr>
          <p:cNvPr id="16" name="TextBox 16"/>
          <p:cNvSpPr txBox="1"/>
          <p:nvPr/>
        </p:nvSpPr>
        <p:spPr>
          <a:xfrm>
            <a:off x="7655415" y="6382348"/>
            <a:ext cx="1270616" cy="354200"/>
          </a:xfrm>
          <a:prstGeom prst="rect">
            <a:avLst/>
          </a:prstGeom>
        </p:spPr>
        <p:txBody>
          <a:bodyPr lIns="0" tIns="0" rIns="0" bIns="0" rtlCol="0" anchor="t">
            <a:spAutoFit/>
          </a:bodyPr>
          <a:lstStyle/>
          <a:p>
            <a:pPr algn="ctr">
              <a:lnSpc>
                <a:spcPts val="937"/>
              </a:lnSpc>
            </a:pPr>
            <a:r>
              <a:rPr lang="en-US" sz="1100" dirty="0">
                <a:solidFill>
                  <a:srgbClr val="E2E6E9"/>
                </a:solidFill>
                <a:latin typeface="Merriweather"/>
                <a:ea typeface="Merriweather"/>
                <a:cs typeface="Merriweather"/>
                <a:sym typeface="Merriweather"/>
              </a:rPr>
              <a:t>Deliver personalized actions</a:t>
            </a:r>
          </a:p>
        </p:txBody>
      </p:sp>
      <p:sp>
        <p:nvSpPr>
          <p:cNvPr id="17" name="TextBox 17"/>
          <p:cNvSpPr txBox="1"/>
          <p:nvPr/>
        </p:nvSpPr>
        <p:spPr>
          <a:xfrm>
            <a:off x="5410200" y="4119138"/>
            <a:ext cx="1270616" cy="384721"/>
          </a:xfrm>
          <a:prstGeom prst="rect">
            <a:avLst/>
          </a:prstGeom>
        </p:spPr>
        <p:txBody>
          <a:bodyPr lIns="0" tIns="0" rIns="0" bIns="0" rtlCol="0" anchor="t">
            <a:spAutoFit/>
          </a:bodyPr>
          <a:lstStyle/>
          <a:p>
            <a:pPr algn="ctr">
              <a:lnSpc>
                <a:spcPts val="1500"/>
              </a:lnSpc>
            </a:pPr>
            <a:r>
              <a:rPr lang="en-US" sz="1400" dirty="0">
                <a:solidFill>
                  <a:srgbClr val="F5F0F0"/>
                </a:solidFill>
                <a:latin typeface="Merriweather"/>
                <a:ea typeface="Merriweather"/>
                <a:cs typeface="Merriweather"/>
                <a:sym typeface="Merriweather"/>
              </a:rPr>
              <a:t>Predictive Analytics</a:t>
            </a:r>
          </a:p>
        </p:txBody>
      </p:sp>
      <p:sp>
        <p:nvSpPr>
          <p:cNvPr id="18" name="TextBox 18"/>
          <p:cNvSpPr txBox="1"/>
          <p:nvPr/>
        </p:nvSpPr>
        <p:spPr>
          <a:xfrm>
            <a:off x="5487957" y="4615377"/>
            <a:ext cx="1270616" cy="238783"/>
          </a:xfrm>
          <a:prstGeom prst="rect">
            <a:avLst/>
          </a:prstGeom>
        </p:spPr>
        <p:txBody>
          <a:bodyPr lIns="0" tIns="0" rIns="0" bIns="0" rtlCol="0" anchor="t">
            <a:spAutoFit/>
          </a:bodyPr>
          <a:lstStyle/>
          <a:p>
            <a:pPr algn="ctr">
              <a:lnSpc>
                <a:spcPts val="937"/>
              </a:lnSpc>
            </a:pPr>
            <a:r>
              <a:rPr lang="en-US" sz="1100" dirty="0">
                <a:solidFill>
                  <a:srgbClr val="E2E6E9"/>
                </a:solidFill>
                <a:latin typeface="Merriweather"/>
                <a:ea typeface="Merriweather"/>
                <a:cs typeface="Merriweather"/>
                <a:sym typeface="Merriweather"/>
              </a:rPr>
              <a:t>Forecast demand and trends</a:t>
            </a:r>
          </a:p>
        </p:txBody>
      </p:sp>
      <p:sp>
        <p:nvSpPr>
          <p:cNvPr id="19" name="TextBox 19"/>
          <p:cNvSpPr txBox="1"/>
          <p:nvPr/>
        </p:nvSpPr>
        <p:spPr>
          <a:xfrm>
            <a:off x="990600" y="7191823"/>
            <a:ext cx="8757075" cy="701602"/>
          </a:xfrm>
          <a:prstGeom prst="rect">
            <a:avLst/>
          </a:prstGeom>
        </p:spPr>
        <p:txBody>
          <a:bodyPr wrap="square" lIns="0" tIns="0" rIns="0" bIns="0" rtlCol="0" anchor="t">
            <a:spAutoFit/>
          </a:bodyPr>
          <a:lstStyle/>
          <a:p>
            <a:pPr algn="l">
              <a:lnSpc>
                <a:spcPts val="1812"/>
              </a:lnSpc>
            </a:pPr>
            <a:endParaRPr lang="en-US" sz="2000" dirty="0">
              <a:solidFill>
                <a:srgbClr val="E2E6E9"/>
              </a:solidFill>
              <a:latin typeface="Merriweather"/>
              <a:ea typeface="Merriweather"/>
              <a:cs typeface="Merriweather"/>
              <a:sym typeface="Merriweather"/>
            </a:endParaRPr>
          </a:p>
          <a:p>
            <a:pPr algn="l">
              <a:lnSpc>
                <a:spcPts val="1812"/>
              </a:lnSpc>
            </a:pPr>
            <a:r>
              <a:rPr lang="en-US" sz="2000" dirty="0">
                <a:solidFill>
                  <a:srgbClr val="E2E6E9"/>
                </a:solidFill>
                <a:latin typeface="Merriweather"/>
                <a:ea typeface="Merriweather"/>
                <a:cs typeface="Merriweather"/>
                <a:sym typeface="Merriweather"/>
              </a:rPr>
              <a:t>Strategic enhancements will transform this analytical foundation into a dynamic, predictive system.</a:t>
            </a:r>
          </a:p>
        </p:txBody>
      </p:sp>
      <p:grpSp>
        <p:nvGrpSpPr>
          <p:cNvPr id="20" name="Group 20"/>
          <p:cNvGrpSpPr/>
          <p:nvPr/>
        </p:nvGrpSpPr>
        <p:grpSpPr>
          <a:xfrm>
            <a:off x="11089033" y="2561777"/>
            <a:ext cx="4543334" cy="2327243"/>
            <a:chOff x="0" y="0"/>
            <a:chExt cx="4957166" cy="2311400"/>
          </a:xfrm>
        </p:grpSpPr>
        <p:sp>
          <p:nvSpPr>
            <p:cNvPr id="21" name="Freeform 21"/>
            <p:cNvSpPr/>
            <p:nvPr/>
          </p:nvSpPr>
          <p:spPr>
            <a:xfrm>
              <a:off x="12700" y="12700"/>
              <a:ext cx="4931791" cy="2286000"/>
            </a:xfrm>
            <a:custGeom>
              <a:avLst/>
              <a:gdLst/>
              <a:ahLst/>
              <a:cxnLst/>
              <a:rect l="l" t="t" r="r" b="b"/>
              <a:pathLst>
                <a:path w="4931791" h="2286000">
                  <a:moveTo>
                    <a:pt x="0" y="121920"/>
                  </a:moveTo>
                  <a:cubicBezTo>
                    <a:pt x="0" y="54610"/>
                    <a:pt x="54864" y="0"/>
                    <a:pt x="122682" y="0"/>
                  </a:cubicBezTo>
                  <a:lnTo>
                    <a:pt x="4809109" y="0"/>
                  </a:lnTo>
                  <a:cubicBezTo>
                    <a:pt x="4876800" y="0"/>
                    <a:pt x="4931791" y="54610"/>
                    <a:pt x="4931791" y="121920"/>
                  </a:cubicBezTo>
                  <a:lnTo>
                    <a:pt x="4931791" y="2164080"/>
                  </a:lnTo>
                  <a:cubicBezTo>
                    <a:pt x="4931791" y="2231390"/>
                    <a:pt x="4876927" y="2286000"/>
                    <a:pt x="4809109" y="2286000"/>
                  </a:cubicBezTo>
                  <a:lnTo>
                    <a:pt x="122682" y="2286000"/>
                  </a:lnTo>
                  <a:cubicBezTo>
                    <a:pt x="54864" y="2286000"/>
                    <a:pt x="0" y="2231390"/>
                    <a:pt x="0" y="2164080"/>
                  </a:cubicBezTo>
                  <a:close/>
                </a:path>
              </a:pathLst>
            </a:custGeom>
            <a:solidFill>
              <a:srgbClr val="09151A">
                <a:alpha val="90196"/>
              </a:srgbClr>
            </a:solidFill>
          </p:spPr>
        </p:sp>
        <p:sp>
          <p:nvSpPr>
            <p:cNvPr id="22" name="Freeform 22"/>
            <p:cNvSpPr/>
            <p:nvPr/>
          </p:nvSpPr>
          <p:spPr>
            <a:xfrm>
              <a:off x="0" y="0"/>
              <a:ext cx="4957191" cy="2311400"/>
            </a:xfrm>
            <a:custGeom>
              <a:avLst/>
              <a:gdLst/>
              <a:ahLst/>
              <a:cxnLst/>
              <a:rect l="l" t="t" r="r" b="b"/>
              <a:pathLst>
                <a:path w="4957191" h="2311400">
                  <a:moveTo>
                    <a:pt x="0" y="134620"/>
                  </a:moveTo>
                  <a:cubicBezTo>
                    <a:pt x="0" y="60198"/>
                    <a:pt x="60706" y="0"/>
                    <a:pt x="135382" y="0"/>
                  </a:cubicBezTo>
                  <a:lnTo>
                    <a:pt x="4821809" y="0"/>
                  </a:lnTo>
                  <a:lnTo>
                    <a:pt x="4821809" y="12700"/>
                  </a:lnTo>
                  <a:lnTo>
                    <a:pt x="4821809" y="0"/>
                  </a:lnTo>
                  <a:cubicBezTo>
                    <a:pt x="4896485" y="0"/>
                    <a:pt x="4957191" y="60198"/>
                    <a:pt x="4957191" y="134620"/>
                  </a:cubicBezTo>
                  <a:lnTo>
                    <a:pt x="4944491" y="134620"/>
                  </a:lnTo>
                  <a:lnTo>
                    <a:pt x="4957191" y="134620"/>
                  </a:lnTo>
                  <a:lnTo>
                    <a:pt x="4957191" y="2176780"/>
                  </a:lnTo>
                  <a:lnTo>
                    <a:pt x="4944491" y="2176780"/>
                  </a:lnTo>
                  <a:lnTo>
                    <a:pt x="4957191" y="2176780"/>
                  </a:lnTo>
                  <a:cubicBezTo>
                    <a:pt x="4957191" y="2251202"/>
                    <a:pt x="4896485" y="2311400"/>
                    <a:pt x="4821809" y="2311400"/>
                  </a:cubicBezTo>
                  <a:lnTo>
                    <a:pt x="4821809" y="2298700"/>
                  </a:lnTo>
                  <a:lnTo>
                    <a:pt x="4821809" y="2311400"/>
                  </a:lnTo>
                  <a:lnTo>
                    <a:pt x="135382" y="2311400"/>
                  </a:lnTo>
                  <a:lnTo>
                    <a:pt x="135382" y="2298700"/>
                  </a:lnTo>
                  <a:lnTo>
                    <a:pt x="135382" y="2311400"/>
                  </a:lnTo>
                  <a:cubicBezTo>
                    <a:pt x="60706" y="2311400"/>
                    <a:pt x="0" y="2251202"/>
                    <a:pt x="0" y="2176780"/>
                  </a:cubicBezTo>
                  <a:lnTo>
                    <a:pt x="0" y="134620"/>
                  </a:lnTo>
                  <a:lnTo>
                    <a:pt x="12700" y="134620"/>
                  </a:lnTo>
                  <a:lnTo>
                    <a:pt x="0" y="134620"/>
                  </a:lnTo>
                  <a:moveTo>
                    <a:pt x="25400" y="134620"/>
                  </a:moveTo>
                  <a:lnTo>
                    <a:pt x="25400" y="2176780"/>
                  </a:lnTo>
                  <a:lnTo>
                    <a:pt x="12700" y="2176780"/>
                  </a:lnTo>
                  <a:lnTo>
                    <a:pt x="25400" y="2176780"/>
                  </a:lnTo>
                  <a:cubicBezTo>
                    <a:pt x="25400" y="2236978"/>
                    <a:pt x="74549" y="2286000"/>
                    <a:pt x="135382" y="2286000"/>
                  </a:cubicBezTo>
                  <a:lnTo>
                    <a:pt x="4821809" y="2286000"/>
                  </a:lnTo>
                  <a:cubicBezTo>
                    <a:pt x="4882642" y="2286000"/>
                    <a:pt x="4931791" y="2236978"/>
                    <a:pt x="4931791" y="2176780"/>
                  </a:cubicBezTo>
                  <a:lnTo>
                    <a:pt x="4931791" y="134620"/>
                  </a:lnTo>
                  <a:cubicBezTo>
                    <a:pt x="4931791" y="74422"/>
                    <a:pt x="4882642" y="25400"/>
                    <a:pt x="4821809" y="25400"/>
                  </a:cubicBezTo>
                  <a:lnTo>
                    <a:pt x="135382" y="25400"/>
                  </a:lnTo>
                  <a:lnTo>
                    <a:pt x="135382" y="12700"/>
                  </a:lnTo>
                  <a:lnTo>
                    <a:pt x="135382" y="25400"/>
                  </a:lnTo>
                  <a:cubicBezTo>
                    <a:pt x="74549" y="25400"/>
                    <a:pt x="25400" y="74422"/>
                    <a:pt x="25400" y="134620"/>
                  </a:cubicBezTo>
                  <a:close/>
                </a:path>
              </a:pathLst>
            </a:custGeom>
            <a:solidFill>
              <a:srgbClr val="194A99"/>
            </a:solidFill>
          </p:spPr>
        </p:sp>
      </p:grpSp>
      <p:grpSp>
        <p:nvGrpSpPr>
          <p:cNvPr id="23" name="Group 23"/>
          <p:cNvGrpSpPr/>
          <p:nvPr/>
        </p:nvGrpSpPr>
        <p:grpSpPr>
          <a:xfrm>
            <a:off x="11130858" y="3121666"/>
            <a:ext cx="76200" cy="1714500"/>
            <a:chOff x="0" y="0"/>
            <a:chExt cx="101600" cy="2286000"/>
          </a:xfrm>
        </p:grpSpPr>
        <p:sp>
          <p:nvSpPr>
            <p:cNvPr id="24" name="Freeform 24"/>
            <p:cNvSpPr/>
            <p:nvPr/>
          </p:nvSpPr>
          <p:spPr>
            <a:xfrm>
              <a:off x="0" y="0"/>
              <a:ext cx="101600" cy="2286000"/>
            </a:xfrm>
            <a:custGeom>
              <a:avLst/>
              <a:gdLst/>
              <a:ahLst/>
              <a:cxnLst/>
              <a:rect l="l" t="t" r="r" b="b"/>
              <a:pathLst>
                <a:path w="101600" h="2286000">
                  <a:moveTo>
                    <a:pt x="0" y="50800"/>
                  </a:moveTo>
                  <a:cubicBezTo>
                    <a:pt x="0" y="22733"/>
                    <a:pt x="22733" y="0"/>
                    <a:pt x="50800" y="0"/>
                  </a:cubicBezTo>
                  <a:cubicBezTo>
                    <a:pt x="78867" y="0"/>
                    <a:pt x="101600" y="22733"/>
                    <a:pt x="101600" y="50800"/>
                  </a:cubicBezTo>
                  <a:lnTo>
                    <a:pt x="101600" y="2235200"/>
                  </a:lnTo>
                  <a:cubicBezTo>
                    <a:pt x="101600" y="2263267"/>
                    <a:pt x="78867" y="2286000"/>
                    <a:pt x="50800" y="2286000"/>
                  </a:cubicBezTo>
                  <a:cubicBezTo>
                    <a:pt x="22733" y="2286000"/>
                    <a:pt x="0" y="2263267"/>
                    <a:pt x="0" y="2235200"/>
                  </a:cubicBezTo>
                  <a:close/>
                </a:path>
              </a:pathLst>
            </a:custGeom>
            <a:solidFill>
              <a:srgbClr val="609DFF"/>
            </a:solidFill>
          </p:spPr>
        </p:sp>
      </p:grpSp>
      <p:sp>
        <p:nvSpPr>
          <p:cNvPr id="25" name="TextBox 25"/>
          <p:cNvSpPr txBox="1"/>
          <p:nvPr/>
        </p:nvSpPr>
        <p:spPr>
          <a:xfrm>
            <a:off x="11407672" y="3133877"/>
            <a:ext cx="3375127" cy="270139"/>
          </a:xfrm>
          <a:prstGeom prst="rect">
            <a:avLst/>
          </a:prstGeom>
        </p:spPr>
        <p:txBody>
          <a:bodyPr wrap="square" lIns="0" tIns="0" rIns="0" bIns="0" rtlCol="0" anchor="t">
            <a:spAutoFit/>
          </a:bodyPr>
          <a:lstStyle/>
          <a:p>
            <a:pPr algn="l">
              <a:lnSpc>
                <a:spcPts val="2187"/>
              </a:lnSpc>
            </a:pPr>
            <a:r>
              <a:rPr lang="en-US" b="1" dirty="0">
                <a:solidFill>
                  <a:srgbClr val="E2E6E9"/>
                </a:solidFill>
                <a:latin typeface="Merriweather"/>
                <a:ea typeface="Merriweather"/>
                <a:cs typeface="Merriweather"/>
                <a:sym typeface="Merriweather"/>
              </a:rPr>
              <a:t>Real-Time Data Integration</a:t>
            </a:r>
          </a:p>
        </p:txBody>
      </p:sp>
      <p:sp>
        <p:nvSpPr>
          <p:cNvPr id="26" name="TextBox 26"/>
          <p:cNvSpPr txBox="1"/>
          <p:nvPr/>
        </p:nvSpPr>
        <p:spPr>
          <a:xfrm>
            <a:off x="11407673" y="3608185"/>
            <a:ext cx="3574426" cy="1027366"/>
          </a:xfrm>
          <a:prstGeom prst="rect">
            <a:avLst/>
          </a:prstGeom>
        </p:spPr>
        <p:txBody>
          <a:bodyPr lIns="0" tIns="0" rIns="0" bIns="0" rtlCol="0" anchor="t">
            <a:spAutoFit/>
          </a:bodyPr>
          <a:lstStyle/>
          <a:p>
            <a:pPr algn="l">
              <a:lnSpc>
                <a:spcPts val="1999"/>
              </a:lnSpc>
            </a:pPr>
            <a:r>
              <a:rPr lang="en-US" dirty="0">
                <a:solidFill>
                  <a:srgbClr val="E2E6E9"/>
                </a:solidFill>
                <a:latin typeface="Merriweather"/>
                <a:ea typeface="Merriweather"/>
                <a:cs typeface="Merriweather"/>
                <a:sym typeface="Merriweather"/>
              </a:rPr>
              <a:t>Incorporate live data feeds to enable dynamic monitoring of restaurant performance and immediate trend detection.</a:t>
            </a:r>
          </a:p>
        </p:txBody>
      </p:sp>
      <p:grpSp>
        <p:nvGrpSpPr>
          <p:cNvPr id="27" name="Group 27"/>
          <p:cNvGrpSpPr/>
          <p:nvPr/>
        </p:nvGrpSpPr>
        <p:grpSpPr>
          <a:xfrm>
            <a:off x="11130858" y="5090636"/>
            <a:ext cx="4543312" cy="1984505"/>
            <a:chOff x="0" y="0"/>
            <a:chExt cx="4957166" cy="2003819"/>
          </a:xfrm>
        </p:grpSpPr>
        <p:sp>
          <p:nvSpPr>
            <p:cNvPr id="28" name="Freeform 28"/>
            <p:cNvSpPr/>
            <p:nvPr/>
          </p:nvSpPr>
          <p:spPr>
            <a:xfrm>
              <a:off x="12700" y="12700"/>
              <a:ext cx="4931791" cy="1978406"/>
            </a:xfrm>
            <a:custGeom>
              <a:avLst/>
              <a:gdLst/>
              <a:ahLst/>
              <a:cxnLst/>
              <a:rect l="l" t="t" r="r" b="b"/>
              <a:pathLst>
                <a:path w="4931791" h="1978406">
                  <a:moveTo>
                    <a:pt x="0" y="121920"/>
                  </a:moveTo>
                  <a:cubicBezTo>
                    <a:pt x="0" y="54610"/>
                    <a:pt x="54991" y="0"/>
                    <a:pt x="122809" y="0"/>
                  </a:cubicBezTo>
                  <a:lnTo>
                    <a:pt x="4808982" y="0"/>
                  </a:lnTo>
                  <a:cubicBezTo>
                    <a:pt x="4876800" y="0"/>
                    <a:pt x="4931791" y="54610"/>
                    <a:pt x="4931791" y="121920"/>
                  </a:cubicBezTo>
                  <a:lnTo>
                    <a:pt x="4931791" y="1856486"/>
                  </a:lnTo>
                  <a:cubicBezTo>
                    <a:pt x="4931791" y="1923796"/>
                    <a:pt x="4876800" y="1978406"/>
                    <a:pt x="4808982" y="1978406"/>
                  </a:cubicBezTo>
                  <a:lnTo>
                    <a:pt x="122809" y="1978406"/>
                  </a:lnTo>
                  <a:cubicBezTo>
                    <a:pt x="54991" y="1978406"/>
                    <a:pt x="0" y="1923796"/>
                    <a:pt x="0" y="1856486"/>
                  </a:cubicBezTo>
                  <a:close/>
                </a:path>
              </a:pathLst>
            </a:custGeom>
            <a:solidFill>
              <a:srgbClr val="09151A">
                <a:alpha val="90196"/>
              </a:srgbClr>
            </a:solidFill>
          </p:spPr>
        </p:sp>
        <p:sp>
          <p:nvSpPr>
            <p:cNvPr id="29" name="Freeform 29"/>
            <p:cNvSpPr/>
            <p:nvPr/>
          </p:nvSpPr>
          <p:spPr>
            <a:xfrm>
              <a:off x="0" y="0"/>
              <a:ext cx="4957191" cy="2003806"/>
            </a:xfrm>
            <a:custGeom>
              <a:avLst/>
              <a:gdLst/>
              <a:ahLst/>
              <a:cxnLst/>
              <a:rect l="l" t="t" r="r" b="b"/>
              <a:pathLst>
                <a:path w="4957191" h="2003806">
                  <a:moveTo>
                    <a:pt x="0" y="134620"/>
                  </a:moveTo>
                  <a:cubicBezTo>
                    <a:pt x="0" y="60198"/>
                    <a:pt x="60833" y="0"/>
                    <a:pt x="135509" y="0"/>
                  </a:cubicBezTo>
                  <a:lnTo>
                    <a:pt x="4821682" y="0"/>
                  </a:lnTo>
                  <a:lnTo>
                    <a:pt x="4821682" y="12700"/>
                  </a:lnTo>
                  <a:lnTo>
                    <a:pt x="4821682" y="0"/>
                  </a:lnTo>
                  <a:cubicBezTo>
                    <a:pt x="4896485" y="0"/>
                    <a:pt x="4957191" y="60198"/>
                    <a:pt x="4957191" y="134620"/>
                  </a:cubicBezTo>
                  <a:lnTo>
                    <a:pt x="4944491" y="134620"/>
                  </a:lnTo>
                  <a:lnTo>
                    <a:pt x="4957191" y="134620"/>
                  </a:lnTo>
                  <a:lnTo>
                    <a:pt x="4957191" y="1869186"/>
                  </a:lnTo>
                  <a:lnTo>
                    <a:pt x="4944491" y="1869186"/>
                  </a:lnTo>
                  <a:lnTo>
                    <a:pt x="4957191" y="1869186"/>
                  </a:lnTo>
                  <a:cubicBezTo>
                    <a:pt x="4957191" y="1943608"/>
                    <a:pt x="4896358" y="2003806"/>
                    <a:pt x="4821682" y="2003806"/>
                  </a:cubicBezTo>
                  <a:lnTo>
                    <a:pt x="4821682" y="1991106"/>
                  </a:lnTo>
                  <a:lnTo>
                    <a:pt x="4821682" y="2003806"/>
                  </a:lnTo>
                  <a:lnTo>
                    <a:pt x="135509" y="2003806"/>
                  </a:lnTo>
                  <a:lnTo>
                    <a:pt x="135509" y="1991106"/>
                  </a:lnTo>
                  <a:lnTo>
                    <a:pt x="135509" y="2003806"/>
                  </a:lnTo>
                  <a:cubicBezTo>
                    <a:pt x="60833" y="2003806"/>
                    <a:pt x="0" y="1943608"/>
                    <a:pt x="0" y="1869186"/>
                  </a:cubicBezTo>
                  <a:lnTo>
                    <a:pt x="0" y="134620"/>
                  </a:lnTo>
                  <a:lnTo>
                    <a:pt x="12700" y="134620"/>
                  </a:lnTo>
                  <a:lnTo>
                    <a:pt x="0" y="134620"/>
                  </a:lnTo>
                  <a:moveTo>
                    <a:pt x="25400" y="134620"/>
                  </a:moveTo>
                  <a:lnTo>
                    <a:pt x="25400" y="1869186"/>
                  </a:lnTo>
                  <a:lnTo>
                    <a:pt x="12700" y="1869186"/>
                  </a:lnTo>
                  <a:lnTo>
                    <a:pt x="25400" y="1869186"/>
                  </a:lnTo>
                  <a:cubicBezTo>
                    <a:pt x="25400" y="1929384"/>
                    <a:pt x="74676" y="1978406"/>
                    <a:pt x="135509" y="1978406"/>
                  </a:cubicBezTo>
                  <a:lnTo>
                    <a:pt x="4821682" y="1978406"/>
                  </a:lnTo>
                  <a:cubicBezTo>
                    <a:pt x="4882642" y="1978406"/>
                    <a:pt x="4931791" y="1929384"/>
                    <a:pt x="4931791" y="1869186"/>
                  </a:cubicBezTo>
                  <a:lnTo>
                    <a:pt x="4931791" y="134620"/>
                  </a:lnTo>
                  <a:cubicBezTo>
                    <a:pt x="4931791" y="74422"/>
                    <a:pt x="4882515" y="25400"/>
                    <a:pt x="4821682" y="25400"/>
                  </a:cubicBezTo>
                  <a:lnTo>
                    <a:pt x="135509" y="25400"/>
                  </a:lnTo>
                  <a:lnTo>
                    <a:pt x="135509" y="12700"/>
                  </a:lnTo>
                  <a:lnTo>
                    <a:pt x="135509" y="25400"/>
                  </a:lnTo>
                  <a:cubicBezTo>
                    <a:pt x="74676" y="25400"/>
                    <a:pt x="25400" y="74422"/>
                    <a:pt x="25400" y="134620"/>
                  </a:cubicBezTo>
                  <a:close/>
                </a:path>
              </a:pathLst>
            </a:custGeom>
            <a:solidFill>
              <a:srgbClr val="194A99"/>
            </a:solidFill>
          </p:spPr>
        </p:sp>
      </p:grpSp>
      <p:grpSp>
        <p:nvGrpSpPr>
          <p:cNvPr id="30" name="Group 30"/>
          <p:cNvGrpSpPr/>
          <p:nvPr/>
        </p:nvGrpSpPr>
        <p:grpSpPr>
          <a:xfrm>
            <a:off x="11130858" y="5285484"/>
            <a:ext cx="76200" cy="1483814"/>
            <a:chOff x="0" y="0"/>
            <a:chExt cx="101600" cy="1978419"/>
          </a:xfrm>
        </p:grpSpPr>
        <p:sp>
          <p:nvSpPr>
            <p:cNvPr id="31" name="Freeform 31"/>
            <p:cNvSpPr/>
            <p:nvPr/>
          </p:nvSpPr>
          <p:spPr>
            <a:xfrm>
              <a:off x="0" y="0"/>
              <a:ext cx="101600" cy="1978406"/>
            </a:xfrm>
            <a:custGeom>
              <a:avLst/>
              <a:gdLst/>
              <a:ahLst/>
              <a:cxnLst/>
              <a:rect l="l" t="t" r="r" b="b"/>
              <a:pathLst>
                <a:path w="101600" h="1978406">
                  <a:moveTo>
                    <a:pt x="0" y="50800"/>
                  </a:moveTo>
                  <a:cubicBezTo>
                    <a:pt x="0" y="22733"/>
                    <a:pt x="22733" y="0"/>
                    <a:pt x="50800" y="0"/>
                  </a:cubicBezTo>
                  <a:cubicBezTo>
                    <a:pt x="78867" y="0"/>
                    <a:pt x="101600" y="22733"/>
                    <a:pt x="101600" y="50800"/>
                  </a:cubicBezTo>
                  <a:lnTo>
                    <a:pt x="101600" y="1927606"/>
                  </a:lnTo>
                  <a:cubicBezTo>
                    <a:pt x="101600" y="1955673"/>
                    <a:pt x="78867" y="1978406"/>
                    <a:pt x="50800" y="1978406"/>
                  </a:cubicBezTo>
                  <a:cubicBezTo>
                    <a:pt x="22733" y="1978406"/>
                    <a:pt x="0" y="1955673"/>
                    <a:pt x="0" y="1927606"/>
                  </a:cubicBezTo>
                  <a:close/>
                </a:path>
              </a:pathLst>
            </a:custGeom>
            <a:solidFill>
              <a:srgbClr val="609DFF"/>
            </a:solidFill>
          </p:spPr>
        </p:sp>
      </p:grpSp>
      <p:sp>
        <p:nvSpPr>
          <p:cNvPr id="32" name="TextBox 32"/>
          <p:cNvSpPr txBox="1"/>
          <p:nvPr/>
        </p:nvSpPr>
        <p:spPr>
          <a:xfrm>
            <a:off x="11407673" y="5386824"/>
            <a:ext cx="3177778" cy="307777"/>
          </a:xfrm>
          <a:prstGeom prst="rect">
            <a:avLst/>
          </a:prstGeom>
        </p:spPr>
        <p:txBody>
          <a:bodyPr wrap="square" lIns="0" tIns="0" rIns="0" bIns="0" rtlCol="0" anchor="t">
            <a:spAutoFit/>
          </a:bodyPr>
          <a:lstStyle/>
          <a:p>
            <a:pPr algn="l">
              <a:lnSpc>
                <a:spcPts val="2380"/>
              </a:lnSpc>
            </a:pPr>
            <a:r>
              <a:rPr lang="en-US" sz="2000" b="1" dirty="0">
                <a:solidFill>
                  <a:srgbClr val="E2E6E9"/>
                </a:solidFill>
                <a:latin typeface="Merriweather"/>
                <a:ea typeface="Merriweather"/>
                <a:cs typeface="Merriweather"/>
                <a:sym typeface="Merriweather"/>
              </a:rPr>
              <a:t>Predictive Analytics</a:t>
            </a:r>
          </a:p>
        </p:txBody>
      </p:sp>
      <p:sp>
        <p:nvSpPr>
          <p:cNvPr id="33" name="TextBox 33"/>
          <p:cNvSpPr txBox="1"/>
          <p:nvPr/>
        </p:nvSpPr>
        <p:spPr>
          <a:xfrm>
            <a:off x="11445778" y="5851333"/>
            <a:ext cx="3686735" cy="1077218"/>
          </a:xfrm>
          <a:prstGeom prst="rect">
            <a:avLst/>
          </a:prstGeom>
        </p:spPr>
        <p:txBody>
          <a:bodyPr lIns="0" tIns="0" rIns="0" bIns="0" rtlCol="0" anchor="t">
            <a:spAutoFit/>
          </a:bodyPr>
          <a:lstStyle/>
          <a:p>
            <a:pPr algn="l">
              <a:lnSpc>
                <a:spcPts val="2062"/>
              </a:lnSpc>
            </a:pPr>
            <a:r>
              <a:rPr lang="en-US" dirty="0">
                <a:solidFill>
                  <a:srgbClr val="E2E6E9"/>
                </a:solidFill>
                <a:latin typeface="Merriweather"/>
                <a:ea typeface="Merriweather"/>
                <a:cs typeface="Merriweather"/>
                <a:sym typeface="Merriweather"/>
              </a:rPr>
              <a:t>Implement machine learning models to forecast customer behavior, rating trends, and demand patterns.</a:t>
            </a:r>
          </a:p>
        </p:txBody>
      </p:sp>
      <p:grpSp>
        <p:nvGrpSpPr>
          <p:cNvPr id="34" name="Group 34"/>
          <p:cNvGrpSpPr/>
          <p:nvPr/>
        </p:nvGrpSpPr>
        <p:grpSpPr>
          <a:xfrm>
            <a:off x="11207058" y="7218016"/>
            <a:ext cx="4467135" cy="2268884"/>
            <a:chOff x="0" y="0"/>
            <a:chExt cx="4957166" cy="2311400"/>
          </a:xfrm>
        </p:grpSpPr>
        <p:sp>
          <p:nvSpPr>
            <p:cNvPr id="35" name="Freeform 35"/>
            <p:cNvSpPr/>
            <p:nvPr/>
          </p:nvSpPr>
          <p:spPr>
            <a:xfrm>
              <a:off x="12700" y="12700"/>
              <a:ext cx="4931791" cy="2286000"/>
            </a:xfrm>
            <a:custGeom>
              <a:avLst/>
              <a:gdLst/>
              <a:ahLst/>
              <a:cxnLst/>
              <a:rect l="l" t="t" r="r" b="b"/>
              <a:pathLst>
                <a:path w="4931791" h="2286000">
                  <a:moveTo>
                    <a:pt x="0" y="121920"/>
                  </a:moveTo>
                  <a:cubicBezTo>
                    <a:pt x="0" y="54610"/>
                    <a:pt x="54864" y="0"/>
                    <a:pt x="122682" y="0"/>
                  </a:cubicBezTo>
                  <a:lnTo>
                    <a:pt x="4809109" y="0"/>
                  </a:lnTo>
                  <a:cubicBezTo>
                    <a:pt x="4876800" y="0"/>
                    <a:pt x="4931791" y="54610"/>
                    <a:pt x="4931791" y="121920"/>
                  </a:cubicBezTo>
                  <a:lnTo>
                    <a:pt x="4931791" y="2164080"/>
                  </a:lnTo>
                  <a:cubicBezTo>
                    <a:pt x="4931791" y="2231390"/>
                    <a:pt x="4876927" y="2286000"/>
                    <a:pt x="4809109" y="2286000"/>
                  </a:cubicBezTo>
                  <a:lnTo>
                    <a:pt x="122682" y="2286000"/>
                  </a:lnTo>
                  <a:cubicBezTo>
                    <a:pt x="54864" y="2286000"/>
                    <a:pt x="0" y="2231390"/>
                    <a:pt x="0" y="2164080"/>
                  </a:cubicBezTo>
                  <a:close/>
                </a:path>
              </a:pathLst>
            </a:custGeom>
            <a:solidFill>
              <a:srgbClr val="09151A">
                <a:alpha val="90196"/>
              </a:srgbClr>
            </a:solidFill>
          </p:spPr>
        </p:sp>
        <p:sp>
          <p:nvSpPr>
            <p:cNvPr id="36" name="Freeform 36"/>
            <p:cNvSpPr/>
            <p:nvPr/>
          </p:nvSpPr>
          <p:spPr>
            <a:xfrm>
              <a:off x="0" y="0"/>
              <a:ext cx="4957191" cy="2311400"/>
            </a:xfrm>
            <a:custGeom>
              <a:avLst/>
              <a:gdLst/>
              <a:ahLst/>
              <a:cxnLst/>
              <a:rect l="l" t="t" r="r" b="b"/>
              <a:pathLst>
                <a:path w="4957191" h="2311400">
                  <a:moveTo>
                    <a:pt x="0" y="134620"/>
                  </a:moveTo>
                  <a:cubicBezTo>
                    <a:pt x="0" y="60198"/>
                    <a:pt x="60706" y="0"/>
                    <a:pt x="135382" y="0"/>
                  </a:cubicBezTo>
                  <a:lnTo>
                    <a:pt x="4821809" y="0"/>
                  </a:lnTo>
                  <a:lnTo>
                    <a:pt x="4821809" y="12700"/>
                  </a:lnTo>
                  <a:lnTo>
                    <a:pt x="4821809" y="0"/>
                  </a:lnTo>
                  <a:cubicBezTo>
                    <a:pt x="4896485" y="0"/>
                    <a:pt x="4957191" y="60198"/>
                    <a:pt x="4957191" y="134620"/>
                  </a:cubicBezTo>
                  <a:lnTo>
                    <a:pt x="4944491" y="134620"/>
                  </a:lnTo>
                  <a:lnTo>
                    <a:pt x="4957191" y="134620"/>
                  </a:lnTo>
                  <a:lnTo>
                    <a:pt x="4957191" y="2176780"/>
                  </a:lnTo>
                  <a:lnTo>
                    <a:pt x="4944491" y="2176780"/>
                  </a:lnTo>
                  <a:lnTo>
                    <a:pt x="4957191" y="2176780"/>
                  </a:lnTo>
                  <a:cubicBezTo>
                    <a:pt x="4957191" y="2251202"/>
                    <a:pt x="4896485" y="2311400"/>
                    <a:pt x="4821809" y="2311400"/>
                  </a:cubicBezTo>
                  <a:lnTo>
                    <a:pt x="4821809" y="2298700"/>
                  </a:lnTo>
                  <a:lnTo>
                    <a:pt x="4821809" y="2311400"/>
                  </a:lnTo>
                  <a:lnTo>
                    <a:pt x="135382" y="2311400"/>
                  </a:lnTo>
                  <a:lnTo>
                    <a:pt x="135382" y="2298700"/>
                  </a:lnTo>
                  <a:lnTo>
                    <a:pt x="135382" y="2311400"/>
                  </a:lnTo>
                  <a:cubicBezTo>
                    <a:pt x="60706" y="2311400"/>
                    <a:pt x="0" y="2251202"/>
                    <a:pt x="0" y="2176780"/>
                  </a:cubicBezTo>
                  <a:lnTo>
                    <a:pt x="0" y="134620"/>
                  </a:lnTo>
                  <a:lnTo>
                    <a:pt x="12700" y="134620"/>
                  </a:lnTo>
                  <a:lnTo>
                    <a:pt x="0" y="134620"/>
                  </a:lnTo>
                  <a:moveTo>
                    <a:pt x="25400" y="134620"/>
                  </a:moveTo>
                  <a:lnTo>
                    <a:pt x="25400" y="2176780"/>
                  </a:lnTo>
                  <a:lnTo>
                    <a:pt x="12700" y="2176780"/>
                  </a:lnTo>
                  <a:lnTo>
                    <a:pt x="25400" y="2176780"/>
                  </a:lnTo>
                  <a:cubicBezTo>
                    <a:pt x="25400" y="2236978"/>
                    <a:pt x="74549" y="2286000"/>
                    <a:pt x="135382" y="2286000"/>
                  </a:cubicBezTo>
                  <a:lnTo>
                    <a:pt x="4821809" y="2286000"/>
                  </a:lnTo>
                  <a:cubicBezTo>
                    <a:pt x="4882642" y="2286000"/>
                    <a:pt x="4931791" y="2236978"/>
                    <a:pt x="4931791" y="2176780"/>
                  </a:cubicBezTo>
                  <a:lnTo>
                    <a:pt x="4931791" y="134620"/>
                  </a:lnTo>
                  <a:cubicBezTo>
                    <a:pt x="4931791" y="74422"/>
                    <a:pt x="4882642" y="25400"/>
                    <a:pt x="4821809" y="25400"/>
                  </a:cubicBezTo>
                  <a:lnTo>
                    <a:pt x="135382" y="25400"/>
                  </a:lnTo>
                  <a:lnTo>
                    <a:pt x="135382" y="12700"/>
                  </a:lnTo>
                  <a:lnTo>
                    <a:pt x="135382" y="25400"/>
                  </a:lnTo>
                  <a:cubicBezTo>
                    <a:pt x="74549" y="25400"/>
                    <a:pt x="25400" y="74422"/>
                    <a:pt x="25400" y="134620"/>
                  </a:cubicBezTo>
                  <a:close/>
                </a:path>
              </a:pathLst>
            </a:custGeom>
            <a:solidFill>
              <a:srgbClr val="194A99"/>
            </a:solidFill>
          </p:spPr>
        </p:sp>
      </p:grpSp>
      <p:grpSp>
        <p:nvGrpSpPr>
          <p:cNvPr id="37" name="Group 37"/>
          <p:cNvGrpSpPr/>
          <p:nvPr/>
        </p:nvGrpSpPr>
        <p:grpSpPr>
          <a:xfrm>
            <a:off x="11168958" y="7340570"/>
            <a:ext cx="76200" cy="1714500"/>
            <a:chOff x="0" y="0"/>
            <a:chExt cx="101600" cy="2286000"/>
          </a:xfrm>
        </p:grpSpPr>
        <p:sp>
          <p:nvSpPr>
            <p:cNvPr id="38" name="Freeform 38"/>
            <p:cNvSpPr/>
            <p:nvPr/>
          </p:nvSpPr>
          <p:spPr>
            <a:xfrm>
              <a:off x="0" y="0"/>
              <a:ext cx="101600" cy="2286000"/>
            </a:xfrm>
            <a:custGeom>
              <a:avLst/>
              <a:gdLst/>
              <a:ahLst/>
              <a:cxnLst/>
              <a:rect l="l" t="t" r="r" b="b"/>
              <a:pathLst>
                <a:path w="101600" h="2286000">
                  <a:moveTo>
                    <a:pt x="0" y="50800"/>
                  </a:moveTo>
                  <a:cubicBezTo>
                    <a:pt x="0" y="22733"/>
                    <a:pt x="22733" y="0"/>
                    <a:pt x="50800" y="0"/>
                  </a:cubicBezTo>
                  <a:cubicBezTo>
                    <a:pt x="78867" y="0"/>
                    <a:pt x="101600" y="22733"/>
                    <a:pt x="101600" y="50800"/>
                  </a:cubicBezTo>
                  <a:lnTo>
                    <a:pt x="101600" y="2235200"/>
                  </a:lnTo>
                  <a:cubicBezTo>
                    <a:pt x="101600" y="2263267"/>
                    <a:pt x="78867" y="2286000"/>
                    <a:pt x="50800" y="2286000"/>
                  </a:cubicBezTo>
                  <a:cubicBezTo>
                    <a:pt x="22733" y="2286000"/>
                    <a:pt x="0" y="2263267"/>
                    <a:pt x="0" y="2235200"/>
                  </a:cubicBezTo>
                  <a:close/>
                </a:path>
              </a:pathLst>
            </a:custGeom>
            <a:solidFill>
              <a:srgbClr val="609DFF"/>
            </a:solidFill>
          </p:spPr>
        </p:sp>
      </p:grpSp>
      <p:sp>
        <p:nvSpPr>
          <p:cNvPr id="39" name="TextBox 39"/>
          <p:cNvSpPr txBox="1"/>
          <p:nvPr/>
        </p:nvSpPr>
        <p:spPr>
          <a:xfrm>
            <a:off x="11351518" y="7427021"/>
            <a:ext cx="3888481" cy="282129"/>
          </a:xfrm>
          <a:prstGeom prst="rect">
            <a:avLst/>
          </a:prstGeom>
        </p:spPr>
        <p:txBody>
          <a:bodyPr wrap="square" lIns="0" tIns="0" rIns="0" bIns="0" rtlCol="0" anchor="t">
            <a:spAutoFit/>
          </a:bodyPr>
          <a:lstStyle/>
          <a:p>
            <a:pPr algn="l">
              <a:lnSpc>
                <a:spcPts val="2226"/>
              </a:lnSpc>
            </a:pPr>
            <a:r>
              <a:rPr lang="en-US" sz="2000" b="1" dirty="0">
                <a:solidFill>
                  <a:srgbClr val="E2E6E9"/>
                </a:solidFill>
                <a:latin typeface="Merriweather"/>
                <a:ea typeface="Merriweather"/>
                <a:cs typeface="Merriweather"/>
                <a:sym typeface="Merriweather"/>
              </a:rPr>
              <a:t>Advanced Recommendations</a:t>
            </a:r>
          </a:p>
        </p:txBody>
      </p:sp>
      <p:sp>
        <p:nvSpPr>
          <p:cNvPr id="40" name="TextBox 40"/>
          <p:cNvSpPr txBox="1"/>
          <p:nvPr/>
        </p:nvSpPr>
        <p:spPr>
          <a:xfrm>
            <a:off x="11445778" y="7868098"/>
            <a:ext cx="3686735" cy="1346522"/>
          </a:xfrm>
          <a:prstGeom prst="rect">
            <a:avLst/>
          </a:prstGeom>
        </p:spPr>
        <p:txBody>
          <a:bodyPr lIns="0" tIns="0" rIns="0" bIns="0" rtlCol="0" anchor="t">
            <a:spAutoFit/>
          </a:bodyPr>
          <a:lstStyle/>
          <a:p>
            <a:pPr algn="l">
              <a:lnSpc>
                <a:spcPts val="2062"/>
              </a:lnSpc>
            </a:pPr>
            <a:r>
              <a:rPr lang="en-US" dirty="0">
                <a:solidFill>
                  <a:srgbClr val="E2E6E9"/>
                </a:solidFill>
                <a:latin typeface="Merriweather"/>
                <a:ea typeface="Merriweather"/>
                <a:cs typeface="Merriweather"/>
                <a:sym typeface="Merriweather"/>
              </a:rPr>
              <a:t>Develop intelligent recommendation engines to improve decision-making and performance evaluation accuracy.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C5A6-4AEA-C2F6-2D37-9A4A553B640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05D72A-597B-5629-44B7-F1D14C29FAE7}"/>
              </a:ext>
            </a:extLst>
          </p:cNvPr>
          <p:cNvGrpSpPr/>
          <p:nvPr/>
        </p:nvGrpSpPr>
        <p:grpSpPr>
          <a:xfrm>
            <a:off x="0" y="0"/>
            <a:ext cx="18288000" cy="10287000"/>
            <a:chOff x="0" y="0"/>
            <a:chExt cx="24384000" cy="13716000"/>
          </a:xfrm>
        </p:grpSpPr>
        <p:sp>
          <p:nvSpPr>
            <p:cNvPr id="3" name="Freeform 3" descr="preencoded.png">
              <a:extLst>
                <a:ext uri="{FF2B5EF4-FFF2-40B4-BE49-F238E27FC236}">
                  <a16:creationId xmlns:a16="http://schemas.microsoft.com/office/drawing/2014/main" id="{A4E33D73-DF11-D29E-181F-5704760EBCAD}"/>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sp>
        <p:nvSpPr>
          <p:cNvPr id="5" name="Freeform 5">
            <a:extLst>
              <a:ext uri="{FF2B5EF4-FFF2-40B4-BE49-F238E27FC236}">
                <a16:creationId xmlns:a16="http://schemas.microsoft.com/office/drawing/2014/main" id="{C3086CD6-4148-B719-B386-12AAD4C1C6DF}"/>
              </a:ext>
            </a:extLst>
          </p:cNvPr>
          <p:cNvSpPr/>
          <p:nvPr/>
        </p:nvSpPr>
        <p:spPr>
          <a:xfrm>
            <a:off x="0" y="0"/>
            <a:ext cx="18288000" cy="10287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pic>
        <p:nvPicPr>
          <p:cNvPr id="42" name="Picture 41">
            <a:extLst>
              <a:ext uri="{FF2B5EF4-FFF2-40B4-BE49-F238E27FC236}">
                <a16:creationId xmlns:a16="http://schemas.microsoft.com/office/drawing/2014/main" id="{91387626-8125-8007-E1B6-45F0F73DCBC7}"/>
              </a:ext>
            </a:extLst>
          </p:cNvPr>
          <p:cNvPicPr>
            <a:picLocks noChangeAspect="1"/>
          </p:cNvPicPr>
          <p:nvPr/>
        </p:nvPicPr>
        <p:blipFill>
          <a:blip r:embed="rId4"/>
          <a:stretch>
            <a:fillRect/>
          </a:stretch>
        </p:blipFill>
        <p:spPr>
          <a:xfrm>
            <a:off x="1447800" y="2045771"/>
            <a:ext cx="14572674" cy="7688779"/>
          </a:xfrm>
          <a:prstGeom prst="rect">
            <a:avLst/>
          </a:prstGeom>
        </p:spPr>
      </p:pic>
      <p:sp>
        <p:nvSpPr>
          <p:cNvPr id="43" name="TextBox 42">
            <a:extLst>
              <a:ext uri="{FF2B5EF4-FFF2-40B4-BE49-F238E27FC236}">
                <a16:creationId xmlns:a16="http://schemas.microsoft.com/office/drawing/2014/main" id="{BBCABA1D-91FD-F2AB-A9DF-730059FDC77B}"/>
              </a:ext>
            </a:extLst>
          </p:cNvPr>
          <p:cNvSpPr txBox="1"/>
          <p:nvPr/>
        </p:nvSpPr>
        <p:spPr>
          <a:xfrm>
            <a:off x="1514168" y="653554"/>
            <a:ext cx="7620000" cy="707886"/>
          </a:xfrm>
          <a:prstGeom prst="rect">
            <a:avLst/>
          </a:prstGeom>
          <a:noFill/>
        </p:spPr>
        <p:txBody>
          <a:bodyPr wrap="square" rtlCol="0">
            <a:spAutoFit/>
          </a:bodyPr>
          <a:lstStyle/>
          <a:p>
            <a:r>
              <a:rPr lang="en-IN" sz="4000" b="1" dirty="0">
                <a:solidFill>
                  <a:schemeClr val="bg1"/>
                </a:solidFill>
              </a:rPr>
              <a:t>WORK FLOW</a:t>
            </a:r>
          </a:p>
        </p:txBody>
      </p:sp>
    </p:spTree>
    <p:extLst>
      <p:ext uri="{BB962C8B-B14F-4D97-AF65-F5344CB8AC3E}">
        <p14:creationId xmlns:p14="http://schemas.microsoft.com/office/powerpoint/2010/main" val="534419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63819"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4"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5"/>
              <a:stretch>
                <a:fillRect r="-1"/>
              </a:stretch>
            </a:blipFill>
          </p:spPr>
        </p:sp>
      </p:grpSp>
      <p:grpSp>
        <p:nvGrpSpPr>
          <p:cNvPr id="8" name="Group 8"/>
          <p:cNvGrpSpPr/>
          <p:nvPr/>
        </p:nvGrpSpPr>
        <p:grpSpPr>
          <a:xfrm>
            <a:off x="12611096" y="1257300"/>
            <a:ext cx="5676903" cy="9029700"/>
            <a:chOff x="0" y="1676400"/>
            <a:chExt cx="9144000" cy="12039600"/>
          </a:xfrm>
        </p:grpSpPr>
        <p:sp>
          <p:nvSpPr>
            <p:cNvPr id="9" name="Freeform 9" descr="preencoded.png"/>
            <p:cNvSpPr/>
            <p:nvPr/>
          </p:nvSpPr>
          <p:spPr>
            <a:xfrm>
              <a:off x="0" y="1676400"/>
              <a:ext cx="9144000" cy="120396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862602" y="1813027"/>
            <a:ext cx="11024597" cy="747512"/>
          </a:xfrm>
          <a:prstGeom prst="rect">
            <a:avLst/>
          </a:prstGeom>
        </p:spPr>
        <p:txBody>
          <a:bodyPr wrap="square" lIns="0" tIns="0" rIns="0" bIns="0" rtlCol="0" anchor="t">
            <a:spAutoFit/>
          </a:bodyPr>
          <a:lstStyle/>
          <a:p>
            <a:pPr algn="l">
              <a:lnSpc>
                <a:spcPts val="6062"/>
              </a:lnSpc>
            </a:pPr>
            <a:r>
              <a:rPr lang="en-US" sz="4812" dirty="0">
                <a:solidFill>
                  <a:srgbClr val="F5F0F0"/>
                </a:solidFill>
                <a:latin typeface="Merriweather"/>
                <a:ea typeface="Merriweather"/>
                <a:cs typeface="Merriweather"/>
                <a:sym typeface="Merriweather"/>
              </a:rPr>
              <a:t>Conclusion:</a:t>
            </a:r>
          </a:p>
        </p:txBody>
      </p:sp>
      <p:sp>
        <p:nvSpPr>
          <p:cNvPr id="11" name="TextBox 11"/>
          <p:cNvSpPr txBox="1"/>
          <p:nvPr/>
        </p:nvSpPr>
        <p:spPr>
          <a:xfrm>
            <a:off x="862602" y="2781300"/>
            <a:ext cx="10615021" cy="1731243"/>
          </a:xfrm>
          <a:prstGeom prst="rect">
            <a:avLst/>
          </a:prstGeom>
        </p:spPr>
        <p:txBody>
          <a:bodyPr wrap="square" lIns="0" tIns="0" rIns="0" bIns="0" rtlCol="0" anchor="t">
            <a:spAutoFit/>
          </a:bodyPr>
          <a:lstStyle/>
          <a:p>
            <a:pPr algn="l">
              <a:lnSpc>
                <a:spcPts val="2749"/>
              </a:lnSpc>
            </a:pPr>
            <a:r>
              <a:rPr lang="en-US" sz="2400" dirty="0">
                <a:solidFill>
                  <a:srgbClr val="E2E6E9"/>
                </a:solidFill>
                <a:latin typeface="Merriweather"/>
                <a:ea typeface="Merriweather"/>
                <a:cs typeface="Merriweather"/>
                <a:sym typeface="Merriweather"/>
              </a:rPr>
              <a:t>This project demonstrates how structured restaurant data can be transformed into meaningful insights through effective preprocessing and visualization. By analyzing customer engagement, ratings, cuisine trends, pricing, and service availability, the dashboards provide a comprehensive view of restaurant performance across global markets.</a:t>
            </a:r>
          </a:p>
        </p:txBody>
      </p:sp>
      <p:sp>
        <p:nvSpPr>
          <p:cNvPr id="12" name="TextBox 12"/>
          <p:cNvSpPr txBox="1"/>
          <p:nvPr/>
        </p:nvSpPr>
        <p:spPr>
          <a:xfrm>
            <a:off x="862602" y="4733304"/>
            <a:ext cx="10691221" cy="2077492"/>
          </a:xfrm>
          <a:prstGeom prst="rect">
            <a:avLst/>
          </a:prstGeom>
        </p:spPr>
        <p:txBody>
          <a:bodyPr wrap="square" lIns="0" tIns="0" rIns="0" bIns="0" rtlCol="0" anchor="t">
            <a:spAutoFit/>
          </a:bodyPr>
          <a:lstStyle/>
          <a:p>
            <a:pPr algn="l">
              <a:lnSpc>
                <a:spcPts val="2749"/>
              </a:lnSpc>
            </a:pPr>
            <a:endParaRPr lang="en-US" sz="2400" dirty="0">
              <a:solidFill>
                <a:srgbClr val="E2E6E9"/>
              </a:solidFill>
              <a:latin typeface="Merriweather"/>
              <a:ea typeface="Merriweather"/>
              <a:cs typeface="Merriweather"/>
              <a:sym typeface="Merriweather"/>
            </a:endParaRPr>
          </a:p>
          <a:p>
            <a:pPr algn="l">
              <a:lnSpc>
                <a:spcPts val="2749"/>
              </a:lnSpc>
            </a:pPr>
            <a:r>
              <a:rPr lang="en-US" sz="2400" dirty="0">
                <a:solidFill>
                  <a:srgbClr val="E2E6E9"/>
                </a:solidFill>
                <a:latin typeface="Merriweather"/>
                <a:ea typeface="Merriweather"/>
                <a:cs typeface="Merriweather"/>
                <a:sym typeface="Merriweather"/>
              </a:rPr>
              <a:t>The integration of analytical logic with visualization supports data-driven decision-making and strategic prioritization. This work highlights the practical value of business intelligence in understanding real-world performance patterns and improving evaluation processes in the competitive restaurant industry.</a:t>
            </a:r>
          </a:p>
        </p:txBody>
      </p:sp>
      <p:sp>
        <p:nvSpPr>
          <p:cNvPr id="13" name="TextBox 13"/>
          <p:cNvSpPr txBox="1"/>
          <p:nvPr/>
        </p:nvSpPr>
        <p:spPr>
          <a:xfrm>
            <a:off x="1232297" y="6972301"/>
            <a:ext cx="9359503" cy="1384995"/>
          </a:xfrm>
          <a:prstGeom prst="rect">
            <a:avLst/>
          </a:prstGeom>
        </p:spPr>
        <p:txBody>
          <a:bodyPr wrap="square" lIns="0" tIns="0" rIns="0" bIns="0" rtlCol="0" anchor="t">
            <a:spAutoFit/>
          </a:bodyPr>
          <a:lstStyle/>
          <a:p>
            <a:pPr algn="l">
              <a:lnSpc>
                <a:spcPts val="2749"/>
              </a:lnSpc>
            </a:pPr>
            <a:endParaRPr lang="en-US" sz="2400" b="1" dirty="0">
              <a:solidFill>
                <a:srgbClr val="E2E6E9"/>
              </a:solidFill>
              <a:latin typeface="Merriweather Bold"/>
              <a:ea typeface="Merriweather Bold"/>
              <a:cs typeface="Merriweather Bold"/>
              <a:sym typeface="Merriweather Bold"/>
            </a:endParaRPr>
          </a:p>
          <a:p>
            <a:pPr algn="l">
              <a:lnSpc>
                <a:spcPts val="2749"/>
              </a:lnSpc>
            </a:pPr>
            <a:r>
              <a:rPr lang="en-US" sz="2400" b="1" dirty="0">
                <a:solidFill>
                  <a:srgbClr val="E2E6E9"/>
                </a:solidFill>
                <a:latin typeface="Merriweather Bold"/>
                <a:ea typeface="Merriweather Bold"/>
                <a:cs typeface="Merriweather Bold"/>
                <a:sym typeface="Merriweather Bold"/>
              </a:rPr>
              <a:t>Key Takeaway:</a:t>
            </a:r>
            <a:r>
              <a:rPr lang="en-US" sz="2400" b="1" dirty="0">
                <a:solidFill>
                  <a:srgbClr val="E2E6E9"/>
                </a:solidFill>
                <a:latin typeface="Merriweather"/>
                <a:ea typeface="Merriweather"/>
                <a:cs typeface="Merriweather"/>
                <a:sym typeface="Merriweather"/>
              </a:rPr>
              <a:t> </a:t>
            </a:r>
            <a:r>
              <a:rPr lang="en-US" sz="2400" dirty="0">
                <a:solidFill>
                  <a:srgbClr val="E2E6E9"/>
                </a:solidFill>
                <a:latin typeface="Merriweather"/>
                <a:ea typeface="Merriweather"/>
                <a:cs typeface="Merriweather"/>
                <a:sym typeface="Merriweather"/>
              </a:rPr>
              <a:t>Combining technical execution with strategic thinking creates actionable insights that drive meaningful business outcomes.</a:t>
            </a:r>
          </a:p>
        </p:txBody>
      </p:sp>
      <p:grpSp>
        <p:nvGrpSpPr>
          <p:cNvPr id="14" name="Group 14"/>
          <p:cNvGrpSpPr/>
          <p:nvPr/>
        </p:nvGrpSpPr>
        <p:grpSpPr>
          <a:xfrm>
            <a:off x="869798" y="7163902"/>
            <a:ext cx="45719" cy="1384995"/>
            <a:chOff x="0" y="0"/>
            <a:chExt cx="38100" cy="1536306"/>
          </a:xfrm>
        </p:grpSpPr>
        <p:sp>
          <p:nvSpPr>
            <p:cNvPr id="15" name="Freeform 15"/>
            <p:cNvSpPr/>
            <p:nvPr/>
          </p:nvSpPr>
          <p:spPr>
            <a:xfrm>
              <a:off x="0" y="0"/>
              <a:ext cx="38100" cy="1536319"/>
            </a:xfrm>
            <a:custGeom>
              <a:avLst/>
              <a:gdLst/>
              <a:ahLst/>
              <a:cxnLst/>
              <a:rect l="l" t="t" r="r" b="b"/>
              <a:pathLst>
                <a:path w="38100" h="1536319">
                  <a:moveTo>
                    <a:pt x="0" y="0"/>
                  </a:moveTo>
                  <a:lnTo>
                    <a:pt x="38100" y="0"/>
                  </a:lnTo>
                  <a:lnTo>
                    <a:pt x="38100" y="1536319"/>
                  </a:lnTo>
                  <a:lnTo>
                    <a:pt x="0" y="1536319"/>
                  </a:lnTo>
                  <a:close/>
                </a:path>
              </a:pathLst>
            </a:custGeom>
            <a:solidFill>
              <a:srgbClr val="609DFF"/>
            </a:solid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1079744" y="1902914"/>
            <a:ext cx="7713459" cy="992686"/>
          </a:xfrm>
          <a:prstGeom prst="rect">
            <a:avLst/>
          </a:prstGeom>
        </p:spPr>
        <p:txBody>
          <a:bodyPr lIns="0" tIns="0" rIns="0" bIns="0" rtlCol="0" anchor="t">
            <a:spAutoFit/>
          </a:bodyPr>
          <a:lstStyle/>
          <a:p>
            <a:pPr algn="l">
              <a:lnSpc>
                <a:spcPts val="7562"/>
              </a:lnSpc>
            </a:pPr>
            <a:r>
              <a:rPr lang="en-US" sz="6062">
                <a:solidFill>
                  <a:srgbClr val="F5F0F0"/>
                </a:solidFill>
                <a:latin typeface="Merriweather"/>
                <a:ea typeface="Merriweather"/>
                <a:cs typeface="Merriweather"/>
                <a:sym typeface="Merriweather"/>
              </a:rPr>
              <a:t>Acknowledgement:</a:t>
            </a:r>
          </a:p>
        </p:txBody>
      </p:sp>
      <p:sp>
        <p:nvSpPr>
          <p:cNvPr id="7" name="TextBox 7"/>
          <p:cNvSpPr txBox="1"/>
          <p:nvPr/>
        </p:nvSpPr>
        <p:spPr>
          <a:xfrm>
            <a:off x="1028700" y="3560487"/>
            <a:ext cx="16128502" cy="1082278"/>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I would like to express our heartfelt gratitude to: Infosys Springboard Team– for organizing this valuable internship opportunity. Our Mentor– for her continuous support and feedback.</a:t>
            </a:r>
          </a:p>
        </p:txBody>
      </p:sp>
      <p:sp>
        <p:nvSpPr>
          <p:cNvPr id="8" name="TextBox 8"/>
          <p:cNvSpPr txBox="1"/>
          <p:nvPr/>
        </p:nvSpPr>
        <p:spPr>
          <a:xfrm>
            <a:off x="1079749" y="5048250"/>
            <a:ext cx="16128502" cy="1082278"/>
          </a:xfrm>
          <a:prstGeom prst="rect">
            <a:avLst/>
          </a:prstGeom>
        </p:spPr>
        <p:txBody>
          <a:bodyPr lIns="0" tIns="0" rIns="0" bIns="0" rtlCol="0" anchor="t">
            <a:spAutoFit/>
          </a:bodyPr>
          <a:lstStyle/>
          <a:p>
            <a:pPr algn="l">
              <a:lnSpc>
                <a:spcPts val="3875"/>
              </a:lnSpc>
            </a:pPr>
            <a:r>
              <a:rPr lang="en-US" sz="2375">
                <a:solidFill>
                  <a:srgbClr val="E2E6E9"/>
                </a:solidFill>
                <a:latin typeface="Merriweather"/>
                <a:ea typeface="Merriweather"/>
                <a:cs typeface="Merriweather"/>
                <a:sym typeface="Merriweather"/>
              </a:rPr>
              <a:t> My Teammates – for collaboration, encouragement, and insights This internship has been a significant step in our professional growth and technical journey. </a:t>
            </a:r>
          </a:p>
        </p:txBody>
      </p:sp>
      <p:sp>
        <p:nvSpPr>
          <p:cNvPr id="9" name="TextBox 9"/>
          <p:cNvSpPr txBox="1"/>
          <p:nvPr/>
        </p:nvSpPr>
        <p:spPr>
          <a:xfrm>
            <a:off x="1130798" y="6540103"/>
            <a:ext cx="16128502" cy="482055"/>
          </a:xfrm>
          <a:prstGeom prst="rect">
            <a:avLst/>
          </a:prstGeom>
        </p:spPr>
        <p:txBody>
          <a:bodyPr lIns="0" tIns="0" rIns="0" bIns="0" rtlCol="0" anchor="t">
            <a:spAutoFit/>
          </a:bodyPr>
          <a:lstStyle/>
          <a:p>
            <a:pPr algn="l">
              <a:lnSpc>
                <a:spcPts val="3875"/>
              </a:lnSpc>
            </a:pPr>
            <a:r>
              <a:rPr lang="en-US" sz="3200" b="1" dirty="0">
                <a:solidFill>
                  <a:srgbClr val="E2E6E9"/>
                </a:solidFill>
                <a:latin typeface="Merriweather"/>
                <a:ea typeface="Merriweather"/>
                <a:cs typeface="Merriweather"/>
                <a:sym typeface="Merriweather"/>
              </a:rPr>
              <a:t>References</a:t>
            </a:r>
            <a:r>
              <a:rPr lang="en-US" sz="3200" dirty="0">
                <a:solidFill>
                  <a:srgbClr val="E2E6E9"/>
                </a:solidFill>
                <a:latin typeface="Merriweather"/>
                <a:ea typeface="Merriweather"/>
                <a:cs typeface="Merriweather"/>
                <a:sym typeface="Merriweather"/>
              </a:rPr>
              <a:t>:</a:t>
            </a:r>
          </a:p>
        </p:txBody>
      </p:sp>
      <p:sp>
        <p:nvSpPr>
          <p:cNvPr id="10" name="TextBox 10"/>
          <p:cNvSpPr txBox="1"/>
          <p:nvPr/>
        </p:nvSpPr>
        <p:spPr>
          <a:xfrm>
            <a:off x="1079749" y="7538437"/>
            <a:ext cx="16128502" cy="1956754"/>
          </a:xfrm>
          <a:prstGeom prst="rect">
            <a:avLst/>
          </a:prstGeom>
        </p:spPr>
        <p:txBody>
          <a:bodyPr lIns="0" tIns="0" rIns="0" bIns="0" rtlCol="0" anchor="t">
            <a:spAutoFit/>
          </a:bodyPr>
          <a:lstStyle/>
          <a:p>
            <a:pPr algn="l">
              <a:lnSpc>
                <a:spcPts val="3873"/>
              </a:lnSpc>
            </a:pPr>
            <a:r>
              <a:rPr lang="en-US" sz="2375" dirty="0">
                <a:solidFill>
                  <a:srgbClr val="E2E6E9"/>
                </a:solidFill>
                <a:latin typeface="Merriweather"/>
                <a:ea typeface="Merriweather"/>
                <a:cs typeface="Merriweather"/>
                <a:sym typeface="Merriweather"/>
              </a:rPr>
              <a:t>Microsoft Power BI Documentation </a:t>
            </a:r>
          </a:p>
          <a:p>
            <a:pPr algn="l">
              <a:lnSpc>
                <a:spcPts val="3875"/>
              </a:lnSpc>
            </a:pPr>
            <a:r>
              <a:rPr lang="en-US" sz="2375" dirty="0">
                <a:solidFill>
                  <a:srgbClr val="E2E6E9"/>
                </a:solidFill>
                <a:latin typeface="Merriweather"/>
                <a:ea typeface="Merriweather"/>
                <a:cs typeface="Merriweather"/>
                <a:sym typeface="Merriweather"/>
              </a:rPr>
              <a:t>Infosys Springboard Virtual Internship course materials</a:t>
            </a:r>
          </a:p>
          <a:p>
            <a:pPr>
              <a:lnSpc>
                <a:spcPts val="3875"/>
              </a:lnSpc>
            </a:pPr>
            <a:r>
              <a:rPr lang="en-US" sz="2375" dirty="0">
                <a:solidFill>
                  <a:srgbClr val="E2E6E9"/>
                </a:solidFill>
                <a:latin typeface="Merriweather"/>
                <a:ea typeface="Merriweather"/>
                <a:cs typeface="Merriweather"/>
                <a:sym typeface="Merriweather"/>
              </a:rPr>
              <a:t>Data Set :</a:t>
            </a:r>
            <a:r>
              <a:rPr lang="en-IN" sz="2400" i="1" dirty="0">
                <a:solidFill>
                  <a:schemeClr val="bg1">
                    <a:lumMod val="95000"/>
                  </a:schemeClr>
                </a:solidFill>
              </a:rPr>
              <a:t>zomato_restaurants.csv </a:t>
            </a:r>
          </a:p>
          <a:p>
            <a:pPr>
              <a:lnSpc>
                <a:spcPts val="3875"/>
              </a:lnSpc>
            </a:pPr>
            <a:r>
              <a:rPr lang="en-IN" sz="2400" i="1" dirty="0">
                <a:solidFill>
                  <a:schemeClr val="bg1">
                    <a:lumMod val="95000"/>
                  </a:schemeClr>
                </a:solidFill>
                <a:latin typeface="Merriweather" panose="00000500000000000000" pitchFamily="2" charset="0"/>
              </a:rPr>
              <a:t>Source</a:t>
            </a:r>
            <a:r>
              <a:rPr lang="en-IN" sz="2400" i="1" dirty="0">
                <a:solidFill>
                  <a:schemeClr val="bg1">
                    <a:lumMod val="95000"/>
                  </a:schemeClr>
                </a:solidFill>
              </a:rPr>
              <a:t> :</a:t>
            </a:r>
            <a:r>
              <a:rPr lang="en-US" sz="2375" dirty="0">
                <a:solidFill>
                  <a:srgbClr val="E2E6E9"/>
                </a:solidFill>
                <a:latin typeface="Merriweather"/>
                <a:ea typeface="Merriweather"/>
                <a:cs typeface="Merriweather"/>
                <a:sym typeface="Merriweather"/>
              </a:rPr>
              <a:t>Kaggle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5862538" y="4406104"/>
            <a:ext cx="7713459" cy="992686"/>
          </a:xfrm>
          <a:prstGeom prst="rect">
            <a:avLst/>
          </a:prstGeom>
        </p:spPr>
        <p:txBody>
          <a:bodyPr lIns="0" tIns="0" rIns="0" bIns="0" rtlCol="0" anchor="t">
            <a:spAutoFit/>
          </a:bodyPr>
          <a:lstStyle/>
          <a:p>
            <a:pPr algn="l">
              <a:lnSpc>
                <a:spcPts val="7562"/>
              </a:lnSpc>
            </a:pPr>
            <a:r>
              <a:rPr lang="en-US" sz="6062">
                <a:solidFill>
                  <a:srgbClr val="F5F0F0"/>
                </a:solidFill>
                <a:latin typeface="Merriweather"/>
                <a:ea typeface="Merriweather"/>
                <a:cs typeface="Merriweather"/>
                <a:sym typeface="Merriweathe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TotalTime>
  <Words>1173</Words>
  <Application>Microsoft Office PowerPoint</Application>
  <PresentationFormat>Custom</PresentationFormat>
  <Paragraphs>127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Merriweather Bold</vt:lpstr>
      <vt:lpstr>Calibri</vt:lpstr>
      <vt:lpstr>Merriweather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Infosys-Springboard-Virtual-Internship-60 (1).pptx</dc:title>
  <cp:lastModifiedBy>Rakesh Munusamy</cp:lastModifiedBy>
  <cp:revision>6</cp:revision>
  <dcterms:created xsi:type="dcterms:W3CDTF">2006-08-16T00:00:00Z</dcterms:created>
  <dcterms:modified xsi:type="dcterms:W3CDTF">2026-02-19T14:18:24Z</dcterms:modified>
  <dc:identifier>DAHA7lqL4iQ</dc:identifier>
</cp:coreProperties>
</file>