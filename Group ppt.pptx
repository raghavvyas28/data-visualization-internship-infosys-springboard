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1168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kaggle.com/datasets/yashsahu02/zomato-restaurants-dataset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238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91820" y="399901"/>
            <a:ext cx="5923359" cy="225504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439"/>
              </a:lnSpc>
            </a:pPr>
            <a:r>
              <a:rPr lang="en-US" sz="4168" kern="0" spc="42" dirty="0">
                <a:solidFill>
                  <a:srgbClr val="F5F6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Infosys_FoodTrends:</a:t>
            </a:r>
            <a:br>
              <a:rPr lang="en-US" sz="4168" kern="0" spc="42" dirty="0">
                <a:solidFill>
                  <a:srgbClr val="F5F6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</a:br>
            <a:r>
              <a:rPr lang="en-US" sz="4168" kern="0" spc="42" dirty="0">
                <a:solidFill>
                  <a:srgbClr val="F5F6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Understanding</a:t>
            </a:r>
            <a:br>
              <a:rPr lang="en-US" sz="4168" kern="0" spc="42" dirty="0">
                <a:solidFill>
                  <a:srgbClr val="F5F6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</a:br>
            <a:r>
              <a:rPr lang="en-US" sz="4168" kern="0" spc="42" dirty="0">
                <a:solidFill>
                  <a:srgbClr val="F5F6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Customer Preferences – Batch_11 Team C</a:t>
            </a: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929313" y="3298916"/>
            <a:ext cx="6048375" cy="37445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474"/>
              </a:lnSpc>
              <a:spcBef>
                <a:spcPts val="743"/>
              </a:spcBef>
            </a:pPr>
            <a:r>
              <a:rPr lang="en-US" sz="1053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Analyzing food trend data to gain insights into customer preferences</a:t>
            </a:r>
            <a:br>
              <a:rPr lang="en-US" sz="1053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053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for the food and beverage industry</a:t>
            </a: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0" y="114300"/>
            <a:ext cx="5715000" cy="6743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1" descr="modern corporate business presentation slide"/>
          <p:cNvPicPr>
            <a:picLocks noChangeAspect="1"/>
          </p:cNvPicPr>
          <p:nvPr/>
        </p:nvPicPr>
        <p:blipFill>
          <a:blip r:embed="rId4"/>
          <a:srcRect l="21751" r="21751"/>
          <a:stretch/>
        </p:blipFill>
        <p:spPr>
          <a:xfrm>
            <a:off x="0" y="114300"/>
            <a:ext cx="5715000" cy="6743700"/>
          </a:xfrm>
          <a:prstGeom prst="rect">
            <a:avLst/>
          </a:prstGeom>
        </p:spPr>
      </p:pic>
      <p:sp>
        <p:nvSpPr>
          <p:cNvPr id="8" name="Text 1">
            <a:extLst>
              <a:ext uri="{FF2B5EF4-FFF2-40B4-BE49-F238E27FC236}">
                <a16:creationId xmlns:a16="http://schemas.microsoft.com/office/drawing/2014/main" id="{6574EA8B-35C6-618C-F231-7E7818E2C23A}"/>
              </a:ext>
            </a:extLst>
          </p:cNvPr>
          <p:cNvSpPr/>
          <p:nvPr/>
        </p:nvSpPr>
        <p:spPr>
          <a:xfrm>
            <a:off x="5805577" y="4580858"/>
            <a:ext cx="1853062" cy="205247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474"/>
              </a:lnSpc>
              <a:spcBef>
                <a:spcPts val="743"/>
              </a:spcBef>
            </a:pPr>
            <a:r>
              <a:rPr lang="en-US" sz="1053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Team Members:</a:t>
            </a:r>
          </a:p>
          <a:p>
            <a:pPr marL="228600" indent="-228600" algn="ctr">
              <a:lnSpc>
                <a:spcPts val="1474"/>
              </a:lnSpc>
              <a:spcBef>
                <a:spcPts val="743"/>
              </a:spcBef>
              <a:buAutoNum type="arabicPeriod"/>
            </a:pPr>
            <a:r>
              <a:rPr lang="en-US" sz="1053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</a:rPr>
              <a:t>Vaishnavi Shah</a:t>
            </a:r>
          </a:p>
          <a:p>
            <a:pPr marL="342900" indent="-342900" algn="ctr">
              <a:lnSpc>
                <a:spcPts val="1474"/>
              </a:lnSpc>
              <a:spcBef>
                <a:spcPts val="743"/>
              </a:spcBef>
              <a:buAutoNum type="arabicPeriod"/>
            </a:pPr>
            <a:r>
              <a:rPr lang="en-US" sz="1053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</a:rPr>
              <a:t>Sam Joseph</a:t>
            </a:r>
          </a:p>
          <a:p>
            <a:pPr marL="342900" indent="-342900" algn="ctr">
              <a:lnSpc>
                <a:spcPts val="1474"/>
              </a:lnSpc>
              <a:spcBef>
                <a:spcPts val="743"/>
              </a:spcBef>
              <a:buAutoNum type="arabicPeriod"/>
            </a:pPr>
            <a:r>
              <a:rPr lang="en-US" sz="1053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</a:rPr>
              <a:t>Yamini Maheswari</a:t>
            </a:r>
          </a:p>
          <a:p>
            <a:pPr marL="342900" indent="-342900" algn="ctr">
              <a:lnSpc>
                <a:spcPts val="1474"/>
              </a:lnSpc>
              <a:spcBef>
                <a:spcPts val="743"/>
              </a:spcBef>
              <a:buAutoNum type="arabicPeriod"/>
            </a:pPr>
            <a:r>
              <a:rPr lang="en-US" sz="1053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</a:rPr>
              <a:t>Piyush Nitnaware</a:t>
            </a:r>
          </a:p>
          <a:p>
            <a:pPr marL="342900" indent="-342900" algn="ctr">
              <a:lnSpc>
                <a:spcPts val="1474"/>
              </a:lnSpc>
              <a:spcBef>
                <a:spcPts val="743"/>
              </a:spcBef>
              <a:buAutoNum type="arabicPeriod"/>
            </a:pPr>
            <a:r>
              <a:rPr lang="en-US" sz="1053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</a:rPr>
              <a:t>Harini M</a:t>
            </a:r>
          </a:p>
          <a:p>
            <a:pPr marL="342900" indent="-342900" algn="ctr">
              <a:lnSpc>
                <a:spcPts val="1474"/>
              </a:lnSpc>
              <a:spcBef>
                <a:spcPts val="743"/>
              </a:spcBef>
              <a:buAutoNum type="arabicPeriod"/>
            </a:pPr>
            <a:r>
              <a:rPr lang="en-US" sz="1053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</a:rPr>
              <a:t>Ragav Vyas</a:t>
            </a:r>
            <a:endParaRPr lang="en-US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F2B70A40-5960-B1D7-1797-CE0E3B40425C}"/>
              </a:ext>
            </a:extLst>
          </p:cNvPr>
          <p:cNvSpPr/>
          <p:nvPr/>
        </p:nvSpPr>
        <p:spPr>
          <a:xfrm>
            <a:off x="10415049" y="6240411"/>
            <a:ext cx="1562639" cy="21792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474"/>
              </a:lnSpc>
              <a:spcBef>
                <a:spcPts val="743"/>
              </a:spcBef>
            </a:pPr>
            <a:r>
              <a:rPr lang="en-US" sz="1053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Mentor Name: Nityasree J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02729"/>
            <a:ext cx="11334750" cy="48175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3794"/>
              </a:lnSpc>
            </a:pPr>
            <a:r>
              <a:rPr lang="en-US" sz="3563" kern="0" spc="36" dirty="0">
                <a:solidFill>
                  <a:srgbClr val="F5F6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Problem Statement</a:t>
            </a:r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476250" y="1571625"/>
            <a:ext cx="5524500" cy="2309813"/>
          </a:xfrm>
          <a:prstGeom prst="rect">
            <a:avLst/>
          </a:prstGeom>
          <a:solidFill>
            <a:srgbClr val="B9D5B1"/>
          </a:solidFill>
          <a:ln>
            <a:miter lim="800000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762000" y="1779687"/>
            <a:ext cx="5143500" cy="3263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570"/>
              </a:lnSpc>
            </a:pPr>
            <a:r>
              <a:rPr lang="en-US" sz="2040" dirty="0">
                <a:solidFill>
                  <a:srgbClr val="071023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Evolving Customer Preferences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62000" y="2253853"/>
            <a:ext cx="5284888" cy="8001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00"/>
              </a:lnSpc>
              <a:spcBef>
                <a:spcPts val="1141"/>
              </a:spcBef>
            </a:pPr>
            <a:r>
              <a:rPr lang="en-US" sz="1500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Food businesses face challenges in</a:t>
            </a:r>
            <a:br>
              <a:rPr lang="en-US" sz="1500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500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identifying evolving customer preferences</a:t>
            </a:r>
            <a:br>
              <a:rPr lang="en-US" sz="1500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500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due to large and diverse datasets.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6191250" y="1571625"/>
            <a:ext cx="5524500" cy="2309813"/>
          </a:xfrm>
          <a:prstGeom prst="rect">
            <a:avLst/>
          </a:prstGeom>
          <a:solidFill>
            <a:srgbClr val="F66A2E"/>
          </a:solidFill>
          <a:ln>
            <a:miter lim="800000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477000" y="1779687"/>
            <a:ext cx="5143500" cy="3263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570"/>
              </a:lnSpc>
            </a:pPr>
            <a:r>
              <a:rPr lang="en-US" sz="2040" dirty="0">
                <a:solidFill>
                  <a:srgbClr val="071023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Lack of Proper Analysis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477000" y="2253853"/>
            <a:ext cx="5401568" cy="10668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00"/>
              </a:lnSpc>
              <a:spcBef>
                <a:spcPts val="1141"/>
              </a:spcBef>
            </a:pPr>
            <a:r>
              <a:rPr lang="en-US" sz="1500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Without proper analysis and visualization,</a:t>
            </a:r>
            <a:br>
              <a:rPr lang="en-US" sz="1500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500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valuable insights related to food trends,</a:t>
            </a:r>
            <a:br>
              <a:rPr lang="en-US" sz="1500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500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customer behavior, and demand patterns</a:t>
            </a:r>
            <a:br>
              <a:rPr lang="en-US" sz="1500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500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remain unexplored.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76250" y="4071938"/>
            <a:ext cx="5524500" cy="2309813"/>
          </a:xfrm>
          <a:prstGeom prst="rect">
            <a:avLst/>
          </a:prstGeom>
          <a:solidFill>
            <a:srgbClr val="F3AE37"/>
          </a:solidFill>
          <a:ln>
            <a:miter lim="800000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62000" y="4279999"/>
            <a:ext cx="5143500" cy="3263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570"/>
              </a:lnSpc>
            </a:pPr>
            <a:r>
              <a:rPr lang="en-US" sz="2040" dirty="0">
                <a:solidFill>
                  <a:srgbClr val="071023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Large and Diverse Datasets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62000" y="4754166"/>
            <a:ext cx="5143500" cy="8001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00"/>
              </a:lnSpc>
              <a:spcBef>
                <a:spcPts val="1141"/>
              </a:spcBef>
            </a:pPr>
            <a:r>
              <a:rPr lang="en-US" sz="1500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Food businesses struggle to extract</a:t>
            </a:r>
            <a:br>
              <a:rPr lang="en-US" sz="1500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500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meaningful insights from the large and</a:t>
            </a:r>
            <a:br>
              <a:rPr lang="en-US" sz="1500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500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diverse datasets they have access to.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6191250" y="4071938"/>
            <a:ext cx="5524500" cy="2309813"/>
          </a:xfrm>
          <a:prstGeom prst="rect">
            <a:avLst/>
          </a:prstGeom>
          <a:solidFill>
            <a:srgbClr val="B9D5B1"/>
          </a:solidFill>
          <a:ln>
            <a:miter lim="800000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477000" y="4279999"/>
            <a:ext cx="5143500" cy="3263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570"/>
              </a:lnSpc>
            </a:pPr>
            <a:r>
              <a:rPr lang="en-US" sz="2040" dirty="0">
                <a:solidFill>
                  <a:srgbClr val="071023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Unexplored Insights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477000" y="4754166"/>
            <a:ext cx="5518101" cy="10668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00"/>
              </a:lnSpc>
              <a:spcBef>
                <a:spcPts val="1141"/>
              </a:spcBef>
            </a:pPr>
            <a:r>
              <a:rPr lang="en-US" sz="1500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Valuable insights related to food trends,</a:t>
            </a:r>
            <a:br>
              <a:rPr lang="en-US" sz="1500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500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customer behavior, and demand patterns</a:t>
            </a:r>
            <a:br>
              <a:rPr lang="en-US" sz="1500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500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remain unexplored due to the lack of proper</a:t>
            </a:r>
            <a:br>
              <a:rPr lang="en-US" sz="1500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500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analysis and visualization.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02729"/>
            <a:ext cx="11334750" cy="48175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3794"/>
              </a:lnSpc>
            </a:pPr>
            <a:r>
              <a:rPr lang="en-US" sz="3563" kern="0" spc="36" dirty="0">
                <a:solidFill>
                  <a:srgbClr val="F5F6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Objectives</a:t>
            </a:r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988219" y="1852613"/>
            <a:ext cx="1428750" cy="1428750"/>
          </a:xfrm>
          <a:prstGeom prst="ellipse">
            <a:avLst/>
          </a:prstGeom>
          <a:solidFill>
            <a:srgbClr val="B9D5B1"/>
          </a:solidFill>
          <a:ln>
            <a:miter lim="800000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6334" y="2290722"/>
            <a:ext cx="552450" cy="552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40531" y="3369469"/>
            <a:ext cx="2524125" cy="46077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</a:pPr>
            <a: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Analyze food trend</a:t>
            </a:r>
            <a:b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data</a:t>
            </a: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368646" y="3916710"/>
            <a:ext cx="2667895" cy="85308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8"/>
              </a:spcBef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Leverage data analytics to</a:t>
            </a:r>
            <a:b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understand evolving</a:t>
            </a:r>
            <a:b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customer preferences in</a:t>
            </a:r>
            <a:b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the food industry</a:t>
            </a:r>
            <a:endParaRPr lang="en-US" dirty="0"/>
          </a:p>
        </p:txBody>
      </p:sp>
      <p:sp>
        <p:nvSpPr>
          <p:cNvPr id="8" name="Shape 4"/>
          <p:cNvSpPr/>
          <p:nvPr/>
        </p:nvSpPr>
        <p:spPr>
          <a:xfrm>
            <a:off x="3917156" y="1852613"/>
            <a:ext cx="1428750" cy="1428750"/>
          </a:xfrm>
          <a:prstGeom prst="ellipse">
            <a:avLst/>
          </a:prstGeom>
          <a:solidFill>
            <a:srgbClr val="F66A2E"/>
          </a:solidFill>
          <a:ln>
            <a:miter lim="800000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6907" y="2324208"/>
            <a:ext cx="561975" cy="4762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69469" y="3369469"/>
            <a:ext cx="2524125" cy="6911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</a:pPr>
            <a: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Identify popular and</a:t>
            </a:r>
            <a:b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emerging food</a:t>
            </a:r>
            <a:b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categories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3297586" y="4147096"/>
            <a:ext cx="2667890" cy="85308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8"/>
              </a:spcBef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Discover the most</a:t>
            </a:r>
            <a:b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preferred and up-and-</a:t>
            </a:r>
            <a:b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coming food categories</a:t>
            </a:r>
            <a:b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based on customer behavior</a:t>
            </a: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6846094" y="1852613"/>
            <a:ext cx="1428750" cy="1428750"/>
          </a:xfrm>
          <a:prstGeom prst="ellipse">
            <a:avLst/>
          </a:prstGeom>
          <a:solidFill>
            <a:srgbClr val="F3AE37"/>
          </a:solidFill>
          <a:ln>
            <a:miter lim="800000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444" y="2248867"/>
            <a:ext cx="447675" cy="6381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88894" y="3369469"/>
            <a:ext cx="2343150" cy="46077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</a:pPr>
            <a: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Study customer</a:t>
            </a:r>
            <a:b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behavior patterns</a:t>
            </a: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6328811" y="3916710"/>
            <a:ext cx="2463315" cy="106635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8"/>
              </a:spcBef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Analyze customer</a:t>
            </a:r>
            <a:b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interaction data to gain</a:t>
            </a:r>
            <a:b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insights into demand</a:t>
            </a:r>
            <a:b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trends and preference</a:t>
            </a:r>
            <a:b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shifts</a:t>
            </a:r>
            <a:endParaRPr lang="en-US" dirty="0"/>
          </a:p>
        </p:txBody>
      </p:sp>
      <p:sp>
        <p:nvSpPr>
          <p:cNvPr id="16" name="Shape 10"/>
          <p:cNvSpPr/>
          <p:nvPr/>
        </p:nvSpPr>
        <p:spPr>
          <a:xfrm>
            <a:off x="9775031" y="1852613"/>
            <a:ext cx="1428750" cy="1428750"/>
          </a:xfrm>
          <a:prstGeom prst="ellipse">
            <a:avLst/>
          </a:prstGeom>
          <a:solidFill>
            <a:srgbClr val="B9D5B1"/>
          </a:solidFill>
          <a:ln>
            <a:miter lim="800000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88031" y="2198637"/>
            <a:ext cx="609600" cy="7048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192741" y="3369469"/>
            <a:ext cx="2593331" cy="6911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</a:pPr>
            <a: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Provide data-driven</a:t>
            </a:r>
            <a:b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insights for business</a:t>
            </a:r>
            <a:b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strategy</a:t>
            </a:r>
            <a:endParaRPr lang="en-US" dirty="0"/>
          </a:p>
        </p:txBody>
      </p:sp>
      <p:sp>
        <p:nvSpPr>
          <p:cNvPr id="19" name="Text 12"/>
          <p:cNvSpPr/>
          <p:nvPr/>
        </p:nvSpPr>
        <p:spPr>
          <a:xfrm>
            <a:off x="9155459" y="4147096"/>
            <a:ext cx="2667895" cy="85308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8"/>
              </a:spcBef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Derive meaningful insights</a:t>
            </a:r>
            <a:b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to help food businesses</a:t>
            </a:r>
            <a:b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enhance their offerings</a:t>
            </a:r>
            <a:b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and customer satisfaction</a:t>
            </a:r>
            <a:endParaRPr lang="en-US" dirty="0"/>
          </a:p>
        </p:txBody>
      </p:sp>
      <p:sp>
        <p:nvSpPr>
          <p:cNvPr id="20" name="Shape 13"/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rgbClr val="143642"/>
          </a:solidFill>
          <a:ln>
            <a:miter lim="800000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4"/>
          <p:cNvSpPr/>
          <p:nvPr/>
        </p:nvSpPr>
        <p:spPr>
          <a:xfrm>
            <a:off x="323850" y="6037808"/>
            <a:ext cx="11544300" cy="48964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928"/>
              </a:lnSpc>
            </a:pPr>
            <a:r>
              <a:rPr lang="en-US" sz="153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By achieving these objectives, the Infosys_FoodTrends project aims to empower food businesses</a:t>
            </a:r>
            <a:br>
              <a:rPr lang="en-US" sz="153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53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with data-driven decision-making and a deeper understanding of customer preferences.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02729"/>
            <a:ext cx="11334750" cy="48175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3794"/>
              </a:lnSpc>
            </a:pPr>
            <a:r>
              <a:rPr lang="en-US" sz="3563" kern="0" spc="36" dirty="0">
                <a:solidFill>
                  <a:srgbClr val="F5F6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Project Milestones</a:t>
            </a:r>
            <a:endParaRPr lang="en-US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525" y="3967163"/>
            <a:ext cx="12211050" cy="28575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2572" y="2648045"/>
            <a:ext cx="19050" cy="1343025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4946" y="3919538"/>
            <a:ext cx="114300" cy="11430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8571" y="3967163"/>
            <a:ext cx="19050" cy="981075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0945" y="3919538"/>
            <a:ext cx="123825" cy="114300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4569" y="2648045"/>
            <a:ext cx="19050" cy="1343025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6943" y="3919538"/>
            <a:ext cx="123825" cy="114300"/>
          </a:xfrm>
          <a:prstGeom prst="rect">
            <a:avLst/>
          </a:prstGeom>
        </p:spPr>
      </p:pic>
      <p:pic>
        <p:nvPicPr>
          <p:cNvPr id="11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0572" y="3967163"/>
            <a:ext cx="19050" cy="981075"/>
          </a:xfrm>
          <a:prstGeom prst="rect">
            <a:avLst/>
          </a:prstGeom>
        </p:spPr>
      </p:pic>
      <p:pic>
        <p:nvPicPr>
          <p:cNvPr id="12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2946" y="3919538"/>
            <a:ext cx="114300" cy="114300"/>
          </a:xfrm>
          <a:prstGeom prst="rect">
            <a:avLst/>
          </a:prstGeom>
        </p:spPr>
      </p:pic>
      <p:sp>
        <p:nvSpPr>
          <p:cNvPr id="13" name="Shape 1"/>
          <p:cNvSpPr/>
          <p:nvPr/>
        </p:nvSpPr>
        <p:spPr>
          <a:xfrm>
            <a:off x="1455389" y="2524190"/>
            <a:ext cx="133353" cy="133351"/>
          </a:xfrm>
          <a:prstGeom prst="ellipse">
            <a:avLst/>
          </a:prstGeom>
          <a:solidFill>
            <a:srgbClr val="B9D5B1"/>
          </a:solidFill>
          <a:ln>
            <a:miter lim="800000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2"/>
          <p:cNvSpPr/>
          <p:nvPr/>
        </p:nvSpPr>
        <p:spPr>
          <a:xfrm>
            <a:off x="1684020" y="2472137"/>
            <a:ext cx="4124325" cy="2303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4"/>
              </a:lnSpc>
            </a:pPr>
            <a: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Milestone 1</a:t>
            </a:r>
            <a:endParaRPr lang="en-US" dirty="0"/>
          </a:p>
        </p:txBody>
      </p:sp>
      <p:sp>
        <p:nvSpPr>
          <p:cNvPr id="15" name="Text 3"/>
          <p:cNvSpPr/>
          <p:nvPr/>
        </p:nvSpPr>
        <p:spPr>
          <a:xfrm>
            <a:off x="1684020" y="2788992"/>
            <a:ext cx="4124325" cy="21327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  <a:spcBef>
                <a:spcPts val="668"/>
              </a:spcBef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Data Collection &amp; Understanding</a:t>
            </a:r>
          </a:p>
          <a:p>
            <a:pPr algn="l">
              <a:lnSpc>
                <a:spcPts val="1680"/>
              </a:lnSpc>
              <a:spcBef>
                <a:spcPts val="668"/>
              </a:spcBef>
            </a:pPr>
            <a:endParaRPr lang="en-US" dirty="0"/>
          </a:p>
        </p:txBody>
      </p:sp>
      <p:sp>
        <p:nvSpPr>
          <p:cNvPr id="16" name="Shape 4"/>
          <p:cNvSpPr/>
          <p:nvPr/>
        </p:nvSpPr>
        <p:spPr>
          <a:xfrm>
            <a:off x="3741388" y="4929253"/>
            <a:ext cx="133353" cy="133351"/>
          </a:xfrm>
          <a:prstGeom prst="ellipse">
            <a:avLst/>
          </a:prstGeom>
          <a:solidFill>
            <a:srgbClr val="F66A2E"/>
          </a:solidFill>
          <a:ln>
            <a:miter lim="800000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5"/>
          <p:cNvSpPr/>
          <p:nvPr/>
        </p:nvSpPr>
        <p:spPr>
          <a:xfrm>
            <a:off x="3970020" y="4877199"/>
            <a:ext cx="4124325" cy="2303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4"/>
              </a:lnSpc>
            </a:pPr>
            <a: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Milestone 2</a:t>
            </a:r>
            <a:endParaRPr lang="en-US" dirty="0"/>
          </a:p>
        </p:txBody>
      </p:sp>
      <p:sp>
        <p:nvSpPr>
          <p:cNvPr id="18" name="Text 6"/>
          <p:cNvSpPr/>
          <p:nvPr/>
        </p:nvSpPr>
        <p:spPr>
          <a:xfrm>
            <a:off x="3970020" y="5194054"/>
            <a:ext cx="4124325" cy="21327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  <a:spcBef>
                <a:spcPts val="668"/>
              </a:spcBef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Data Analysis &amp; Trend Identification</a:t>
            </a:r>
            <a:endParaRPr lang="en-US" dirty="0"/>
          </a:p>
        </p:txBody>
      </p:sp>
      <p:sp>
        <p:nvSpPr>
          <p:cNvPr id="19" name="Shape 7"/>
          <p:cNvSpPr/>
          <p:nvPr/>
        </p:nvSpPr>
        <p:spPr>
          <a:xfrm>
            <a:off x="6027391" y="2524190"/>
            <a:ext cx="133348" cy="133351"/>
          </a:xfrm>
          <a:prstGeom prst="ellipse">
            <a:avLst/>
          </a:prstGeom>
          <a:solidFill>
            <a:srgbClr val="F3AE37"/>
          </a:solidFill>
          <a:ln>
            <a:miter lim="800000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8"/>
          <p:cNvSpPr/>
          <p:nvPr/>
        </p:nvSpPr>
        <p:spPr>
          <a:xfrm>
            <a:off x="6256020" y="2472137"/>
            <a:ext cx="5431036" cy="2303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4"/>
              </a:lnSpc>
            </a:pPr>
            <a: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Milestone 3</a:t>
            </a:r>
            <a:endParaRPr lang="en-US" dirty="0"/>
          </a:p>
        </p:txBody>
      </p:sp>
      <p:sp>
        <p:nvSpPr>
          <p:cNvPr id="21" name="Text 9"/>
          <p:cNvSpPr/>
          <p:nvPr/>
        </p:nvSpPr>
        <p:spPr>
          <a:xfrm>
            <a:off x="6256020" y="2788992"/>
            <a:ext cx="5431036" cy="21327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  <a:spcBef>
                <a:spcPts val="668"/>
              </a:spcBef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Visualization &amp; Dashboard Creation</a:t>
            </a:r>
            <a:endParaRPr lang="en-US" dirty="0"/>
          </a:p>
        </p:txBody>
      </p:sp>
      <p:sp>
        <p:nvSpPr>
          <p:cNvPr id="22" name="Shape 10"/>
          <p:cNvSpPr/>
          <p:nvPr/>
        </p:nvSpPr>
        <p:spPr>
          <a:xfrm>
            <a:off x="8313389" y="4929253"/>
            <a:ext cx="133353" cy="133351"/>
          </a:xfrm>
          <a:prstGeom prst="ellipse">
            <a:avLst/>
          </a:prstGeom>
          <a:solidFill>
            <a:srgbClr val="B9D5B1"/>
          </a:solidFill>
          <a:ln>
            <a:miter lim="800000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1"/>
          <p:cNvSpPr/>
          <p:nvPr/>
        </p:nvSpPr>
        <p:spPr>
          <a:xfrm>
            <a:off x="8542020" y="4877199"/>
            <a:ext cx="3145036" cy="2303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4"/>
              </a:lnSpc>
            </a:pPr>
            <a: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Milestone 4</a:t>
            </a:r>
            <a:endParaRPr lang="en-US" dirty="0"/>
          </a:p>
        </p:txBody>
      </p:sp>
      <p:sp>
        <p:nvSpPr>
          <p:cNvPr id="24" name="Text 12"/>
          <p:cNvSpPr/>
          <p:nvPr/>
        </p:nvSpPr>
        <p:spPr>
          <a:xfrm>
            <a:off x="8542020" y="5194054"/>
            <a:ext cx="3145036" cy="21327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  <a:spcBef>
                <a:spcPts val="668"/>
              </a:spcBef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Insights &amp; Recommendations</a:t>
            </a:r>
            <a:endParaRPr lang="en-US" dirty="0"/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34817AE3-E048-F488-6FD7-707318C0BDE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684020" y="3049888"/>
            <a:ext cx="315913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Collected Zomato Restaurants Dataset from Kaggle Studied dataset structure, features, and data quality Dashboard 1: Dataset overview &amp; basic statistics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026741F3-5865-4E15-DA4C-6B2360858D9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256020" y="3024123"/>
            <a:ext cx="315913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Analyzed ratings, cuisines, cost, and delivery options Identified patterns using charts and filters Dashboards 4–6: Ratings analysis, cuisine trends, cost vs rating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67CB67A4-0D1B-75D7-6341-6F142089E06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970020" y="5431257"/>
            <a:ext cx="315913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Handled missing and inconsistent values Standardized cuisine, rating, and cost fields Dashboards 2–3: Cleaned data validation &amp; category distribution</a:t>
            </a: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9799CC16-5095-8B70-5901-4F0DA1FB377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542020" y="5493794"/>
            <a:ext cx="315913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Extracted key insights from dashboards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Prepared conclusions and project documentation Dashboard 7: Final insights &amp; summary dashboard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01525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02729"/>
            <a:ext cx="11334750" cy="48175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3794"/>
              </a:lnSpc>
            </a:pPr>
            <a:r>
              <a:rPr lang="en-US" sz="3563" kern="0" spc="36" dirty="0">
                <a:solidFill>
                  <a:srgbClr val="F5F6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Challenges Faced</a:t>
            </a:r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476250" y="1571625"/>
            <a:ext cx="3619500" cy="2309813"/>
          </a:xfrm>
          <a:prstGeom prst="rect">
            <a:avLst/>
          </a:prstGeom>
          <a:solidFill>
            <a:srgbClr val="B9D5B1"/>
          </a:solidFill>
          <a:ln>
            <a:miter lim="800000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762000" y="1783556"/>
            <a:ext cx="3238500" cy="3101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442"/>
              </a:lnSpc>
            </a:pPr>
            <a:r>
              <a:rPr lang="en-US" sz="1938" dirty="0">
                <a:solidFill>
                  <a:srgbClr val="071023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Missing values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62000" y="2234208"/>
            <a:ext cx="3238500" cy="126652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95"/>
              </a:lnSpc>
              <a:spcBef>
                <a:spcPts val="1084"/>
              </a:spcBef>
            </a:pPr>
            <a:r>
              <a:rPr lang="en-US" sz="1425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Dataset contained several</a:t>
            </a:r>
            <a:br>
              <a:rPr lang="en-US" sz="1425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425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missing values across</a:t>
            </a:r>
            <a:br>
              <a:rPr lang="en-US" sz="1425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425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different fields that</a:t>
            </a:r>
            <a:br>
              <a:rPr lang="en-US" sz="1425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425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required thorough cleaning</a:t>
            </a:r>
            <a:br>
              <a:rPr lang="en-US" sz="1425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425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and imputation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286250" y="1571625"/>
            <a:ext cx="3619500" cy="2309813"/>
          </a:xfrm>
          <a:prstGeom prst="rect">
            <a:avLst/>
          </a:prstGeom>
          <a:solidFill>
            <a:srgbClr val="F66A2E"/>
          </a:solidFill>
          <a:ln>
            <a:miter lim="800000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0" y="1783556"/>
            <a:ext cx="3327053" cy="3101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442"/>
              </a:lnSpc>
            </a:pPr>
            <a:r>
              <a:rPr lang="en-US" sz="1938" dirty="0">
                <a:solidFill>
                  <a:srgbClr val="071023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Inconsistent entries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572000" y="2234208"/>
            <a:ext cx="3304879" cy="126652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95"/>
              </a:lnSpc>
              <a:spcBef>
                <a:spcPts val="1084"/>
              </a:spcBef>
            </a:pPr>
            <a:r>
              <a:rPr lang="en-US" sz="1425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Cuisine categories,</a:t>
            </a:r>
            <a:br>
              <a:rPr lang="en-US" sz="1425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425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restaurant names, and other</a:t>
            </a:r>
            <a:br>
              <a:rPr lang="en-US" sz="1425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425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fields had high variability</a:t>
            </a:r>
            <a:br>
              <a:rPr lang="en-US" sz="1425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425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in formatting and</a:t>
            </a:r>
            <a:br>
              <a:rPr lang="en-US" sz="1425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425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terminology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8096250" y="1571625"/>
            <a:ext cx="3619500" cy="2309813"/>
          </a:xfrm>
          <a:prstGeom prst="rect">
            <a:avLst/>
          </a:prstGeom>
          <a:solidFill>
            <a:srgbClr val="F3AE37"/>
          </a:solidFill>
          <a:ln>
            <a:miter lim="800000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382000" y="1783556"/>
            <a:ext cx="3238500" cy="6203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442"/>
              </a:lnSpc>
            </a:pPr>
            <a:r>
              <a:rPr lang="en-US" sz="1938" dirty="0">
                <a:solidFill>
                  <a:srgbClr val="071023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Data formatting</a:t>
            </a:r>
            <a:br>
              <a:rPr lang="en-US" sz="1938" dirty="0">
                <a:solidFill>
                  <a:srgbClr val="071023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938" dirty="0">
                <a:solidFill>
                  <a:srgbClr val="071023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issues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8382000" y="2544366"/>
            <a:ext cx="3415608" cy="101322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95"/>
              </a:lnSpc>
              <a:spcBef>
                <a:spcPts val="1084"/>
              </a:spcBef>
            </a:pPr>
            <a:r>
              <a:rPr lang="en-US" sz="1425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Ratings and location fields</a:t>
            </a:r>
            <a:br>
              <a:rPr lang="en-US" sz="1425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425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had inconsistent formatting</a:t>
            </a:r>
            <a:br>
              <a:rPr lang="en-US" sz="1425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425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and structures that required</a:t>
            </a:r>
            <a:br>
              <a:rPr lang="en-US" sz="1425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425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extensive data preprocessing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76250" y="4071938"/>
            <a:ext cx="5524500" cy="2309813"/>
          </a:xfrm>
          <a:prstGeom prst="rect">
            <a:avLst/>
          </a:prstGeom>
          <a:solidFill>
            <a:srgbClr val="B9D5B1"/>
          </a:solidFill>
          <a:ln>
            <a:miter lim="800000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62000" y="4283869"/>
            <a:ext cx="5174462" cy="3101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442"/>
              </a:lnSpc>
            </a:pPr>
            <a:r>
              <a:rPr lang="en-US" sz="1938" dirty="0">
                <a:solidFill>
                  <a:srgbClr val="071023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High cuisine category variation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62000" y="4734520"/>
            <a:ext cx="5267479" cy="7599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95"/>
              </a:lnSpc>
              <a:spcBef>
                <a:spcPts val="1084"/>
              </a:spcBef>
            </a:pPr>
            <a:r>
              <a:rPr lang="en-US" sz="1425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Cuisine types were highly diverse with many</a:t>
            </a:r>
            <a:br>
              <a:rPr lang="en-US" sz="1425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425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overlapping and ambiguous categories that</a:t>
            </a:r>
            <a:br>
              <a:rPr lang="en-US" sz="1425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425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needed to be consolidated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6191250" y="4071938"/>
            <a:ext cx="5524500" cy="2309813"/>
          </a:xfrm>
          <a:prstGeom prst="rect">
            <a:avLst/>
          </a:prstGeom>
          <a:solidFill>
            <a:srgbClr val="F66A2E"/>
          </a:solidFill>
          <a:ln>
            <a:miter lim="800000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477000" y="4283869"/>
            <a:ext cx="5143500" cy="3101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442"/>
              </a:lnSpc>
            </a:pPr>
            <a:r>
              <a:rPr lang="en-US" sz="1938" dirty="0">
                <a:solidFill>
                  <a:srgbClr val="071023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Outliers in cost and votes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477000" y="4734520"/>
            <a:ext cx="5143500" cy="7599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95"/>
              </a:lnSpc>
              <a:spcBef>
                <a:spcPts val="1084"/>
              </a:spcBef>
            </a:pPr>
            <a:r>
              <a:rPr lang="en-US" sz="1425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Extreme outliers in restaurant cost and</a:t>
            </a:r>
            <a:br>
              <a:rPr lang="en-US" sz="1425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425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customer votes had to be identified and</a:t>
            </a:r>
            <a:br>
              <a:rPr lang="en-US" sz="1425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425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handled appropriately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01525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02729"/>
            <a:ext cx="11334750" cy="48175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3794"/>
              </a:lnSpc>
            </a:pPr>
            <a:r>
              <a:rPr lang="en-US" sz="3563" kern="0" spc="36" dirty="0">
                <a:solidFill>
                  <a:srgbClr val="F5F6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Key Insights</a:t>
            </a:r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1095375" y="1862138"/>
            <a:ext cx="714375" cy="714375"/>
          </a:xfrm>
          <a:prstGeom prst="ellipse">
            <a:avLst/>
          </a:prstGeom>
          <a:solidFill>
            <a:srgbClr val="B9D5B1"/>
          </a:solidFill>
          <a:ln>
            <a:miter lim="800000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2570" y="2039330"/>
            <a:ext cx="361950" cy="3619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000250" y="1807369"/>
            <a:ext cx="4079233" cy="46077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4"/>
              </a:lnSpc>
            </a:pPr>
            <a: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Identification of highly preferred</a:t>
            </a:r>
            <a:b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food categories</a:t>
            </a: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2000250" y="2354610"/>
            <a:ext cx="3952875" cy="85308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  <a:spcBef>
                <a:spcPts val="668"/>
              </a:spcBef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Our analysis revealed the most popular</a:t>
            </a:r>
            <a:b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and in-demand food categories based on</a:t>
            </a:r>
            <a:b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customer interactions and demand</a:t>
            </a:r>
            <a:b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patterns.</a:t>
            </a:r>
            <a:endParaRPr lang="en-US" dirty="0"/>
          </a:p>
        </p:txBody>
      </p:sp>
      <p:sp>
        <p:nvSpPr>
          <p:cNvPr id="8" name="Shape 4"/>
          <p:cNvSpPr/>
          <p:nvPr/>
        </p:nvSpPr>
        <p:spPr>
          <a:xfrm>
            <a:off x="1095375" y="3643313"/>
            <a:ext cx="714375" cy="714375"/>
          </a:xfrm>
          <a:prstGeom prst="ellipse">
            <a:avLst/>
          </a:prstGeom>
          <a:solidFill>
            <a:srgbClr val="F66A2E"/>
          </a:solidFill>
          <a:ln>
            <a:miter lim="800000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5294" y="3870740"/>
            <a:ext cx="333375" cy="2667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00250" y="3588544"/>
            <a:ext cx="4191156" cy="46077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4"/>
              </a:lnSpc>
            </a:pPr>
            <a: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Changing customer preferences over</a:t>
            </a:r>
            <a:b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time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2000250" y="4135785"/>
            <a:ext cx="4209901" cy="85308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  <a:spcBef>
                <a:spcPts val="668"/>
              </a:spcBef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We tracked how customer preferences</a:t>
            </a:r>
            <a:b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shifted and evolved, identifying emerging</a:t>
            </a:r>
            <a:b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food trends and changing consumption</a:t>
            </a:r>
            <a:b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behaviors.</a:t>
            </a: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6334125" y="1862138"/>
            <a:ext cx="714375" cy="714375"/>
          </a:xfrm>
          <a:prstGeom prst="ellipse">
            <a:avLst/>
          </a:prstGeom>
          <a:solidFill>
            <a:srgbClr val="F3AE37"/>
          </a:solidFill>
          <a:ln>
            <a:miter lim="800000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8992" y="2097936"/>
            <a:ext cx="285750" cy="2381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239000" y="1807369"/>
            <a:ext cx="4079233" cy="2303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4"/>
              </a:lnSpc>
            </a:pPr>
            <a: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Demand-driven food trend patterns</a:t>
            </a: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7239000" y="2124224"/>
            <a:ext cx="3952875" cy="85308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  <a:spcBef>
                <a:spcPts val="668"/>
              </a:spcBef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Our data-driven approach enabled us to</a:t>
            </a:r>
            <a:b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uncover demand-driven patterns and</a:t>
            </a:r>
            <a:b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correlations in food trends, informing</a:t>
            </a:r>
            <a:b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strategic decision-making.</a:t>
            </a:r>
            <a:endParaRPr lang="en-US" dirty="0"/>
          </a:p>
        </p:txBody>
      </p:sp>
      <p:sp>
        <p:nvSpPr>
          <p:cNvPr id="16" name="Shape 10"/>
          <p:cNvSpPr/>
          <p:nvPr/>
        </p:nvSpPr>
        <p:spPr>
          <a:xfrm>
            <a:off x="6334125" y="3414713"/>
            <a:ext cx="714375" cy="714375"/>
          </a:xfrm>
          <a:prstGeom prst="ellipse">
            <a:avLst/>
          </a:prstGeom>
          <a:solidFill>
            <a:srgbClr val="B9D5B1"/>
          </a:solidFill>
          <a:ln>
            <a:miter lim="800000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2249" y="3612839"/>
            <a:ext cx="323850" cy="3238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239000" y="3359944"/>
            <a:ext cx="3967309" cy="46077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4"/>
              </a:lnSpc>
            </a:pPr>
            <a: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Importance of data visualization</a:t>
            </a:r>
            <a:b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for insights</a:t>
            </a:r>
            <a:endParaRPr lang="en-US" dirty="0"/>
          </a:p>
        </p:txBody>
      </p:sp>
      <p:sp>
        <p:nvSpPr>
          <p:cNvPr id="19" name="Text 12"/>
          <p:cNvSpPr/>
          <p:nvPr/>
        </p:nvSpPr>
        <p:spPr>
          <a:xfrm>
            <a:off x="7239000" y="3907185"/>
            <a:ext cx="4209901" cy="85308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  <a:spcBef>
                <a:spcPts val="668"/>
              </a:spcBef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Interactive dashboards and visualizations</a:t>
            </a:r>
            <a:b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played a crucial role in effectively</a:t>
            </a:r>
            <a:b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communicating the key insights derived</a:t>
            </a:r>
            <a:b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from the food trend analysis.</a:t>
            </a:r>
            <a:endParaRPr lang="en-US" dirty="0"/>
          </a:p>
        </p:txBody>
      </p:sp>
      <p:sp>
        <p:nvSpPr>
          <p:cNvPr id="20" name="Shape 13"/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rgbClr val="F3AE37"/>
          </a:solidFill>
          <a:ln>
            <a:miter lim="800000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4"/>
          <p:cNvSpPr/>
          <p:nvPr/>
        </p:nvSpPr>
        <p:spPr>
          <a:xfrm>
            <a:off x="266700" y="6037808"/>
            <a:ext cx="11658600" cy="48964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928"/>
              </a:lnSpc>
            </a:pPr>
            <a:r>
              <a:rPr lang="en-US" sz="1530" dirty="0">
                <a:solidFill>
                  <a:srgbClr val="071023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The key insights from the Infosys_FoodTrends project provide valuable data-driven intelligence</a:t>
            </a:r>
            <a:br>
              <a:rPr lang="en-US" sz="1530" dirty="0">
                <a:solidFill>
                  <a:srgbClr val="071023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530" dirty="0">
                <a:solidFill>
                  <a:srgbClr val="071023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to help food businesses stay ahead of the curve and cater to evolving customer preferences.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02729"/>
            <a:ext cx="11334750" cy="48175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3794"/>
              </a:lnSpc>
            </a:pPr>
            <a:r>
              <a:rPr lang="en-US" sz="3563" kern="0" spc="36" dirty="0">
                <a:solidFill>
                  <a:srgbClr val="F5F6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Future Scope</a:t>
            </a:r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1476375" y="1857375"/>
            <a:ext cx="1428750" cy="1428750"/>
          </a:xfrm>
          <a:prstGeom prst="ellipse">
            <a:avLst/>
          </a:prstGeom>
          <a:solidFill>
            <a:srgbClr val="B9D5B1"/>
          </a:solidFill>
          <a:ln>
            <a:miter lim="800000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7512" y="2278745"/>
            <a:ext cx="695325" cy="571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0075" y="3374231"/>
            <a:ext cx="3181350" cy="46077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</a:pPr>
            <a: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Integrate Real-Time Data</a:t>
            </a:r>
            <a:b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Sources</a:t>
            </a: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97488" y="3921472"/>
            <a:ext cx="3386524" cy="85308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8"/>
              </a:spcBef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Incorporate real-time data feeds</a:t>
            </a:r>
            <a:b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from various channels to capture</a:t>
            </a:r>
            <a:b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evolving customer preferences and</a:t>
            </a:r>
            <a:b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trends in a timely manner.</a:t>
            </a:r>
            <a:endParaRPr lang="en-US" dirty="0"/>
          </a:p>
        </p:txBody>
      </p:sp>
      <p:sp>
        <p:nvSpPr>
          <p:cNvPr id="8" name="Shape 4"/>
          <p:cNvSpPr/>
          <p:nvPr/>
        </p:nvSpPr>
        <p:spPr>
          <a:xfrm>
            <a:off x="5381625" y="1857375"/>
            <a:ext cx="1428750" cy="1428750"/>
          </a:xfrm>
          <a:prstGeom prst="ellipse">
            <a:avLst/>
          </a:prstGeom>
          <a:solidFill>
            <a:srgbClr val="F66A2E"/>
          </a:solidFill>
          <a:ln>
            <a:miter lim="800000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4396" y="2111315"/>
            <a:ext cx="704850" cy="904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304986" y="3374231"/>
            <a:ext cx="3582027" cy="46077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</a:pPr>
            <a: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Leverage Advanced Analytics &amp;</a:t>
            </a:r>
            <a:b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AI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4249029" y="3921472"/>
            <a:ext cx="3693942" cy="85308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8"/>
              </a:spcBef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Apply machine learning models and</a:t>
            </a:r>
            <a:b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artificial intelligence techniques to</a:t>
            </a:r>
            <a:b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uncover deeper insights and</a:t>
            </a:r>
            <a:b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predictive patterns from the data.</a:t>
            </a: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9286875" y="1857375"/>
            <a:ext cx="1428750" cy="1428750"/>
          </a:xfrm>
          <a:prstGeom prst="ellipse">
            <a:avLst/>
          </a:prstGeom>
          <a:solidFill>
            <a:srgbClr val="F3AE37"/>
          </a:solidFill>
          <a:ln>
            <a:miter lim="800000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0335" y="2287109"/>
            <a:ext cx="409575" cy="5905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72463" y="3374231"/>
            <a:ext cx="3457575" cy="46077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</a:pPr>
            <a: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Expand Analysis Across</a:t>
            </a:r>
            <a:b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44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Regions/Platforms</a:t>
            </a: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8154279" y="3921472"/>
            <a:ext cx="3693942" cy="106635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8"/>
              </a:spcBef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Extend the analysis to cover</a:t>
            </a:r>
            <a:b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multiple geographic regions or</a:t>
            </a:r>
            <a:b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digital platforms to identify global</a:t>
            </a:r>
            <a:b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or platform-specific customer</a:t>
            </a:r>
            <a:b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behavior trends.</a:t>
            </a:r>
            <a:endParaRPr lang="en-US" dirty="0"/>
          </a:p>
        </p:txBody>
      </p:sp>
      <p:sp>
        <p:nvSpPr>
          <p:cNvPr id="16" name="Shape 10"/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rgbClr val="F3AE37"/>
          </a:solidFill>
          <a:ln>
            <a:miter lim="800000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1"/>
          <p:cNvSpPr/>
          <p:nvPr/>
        </p:nvSpPr>
        <p:spPr>
          <a:xfrm>
            <a:off x="1709738" y="5958929"/>
            <a:ext cx="8772525" cy="64784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701"/>
              </a:lnSpc>
            </a:pPr>
            <a:r>
              <a:rPr lang="en-US" sz="1350" dirty="0">
                <a:solidFill>
                  <a:srgbClr val="071023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By integrating real-time data, harnessing advanced analytics, and expanding the</a:t>
            </a:r>
            <a:br>
              <a:rPr lang="en-US" sz="1350" dirty="0">
                <a:solidFill>
                  <a:srgbClr val="071023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350" dirty="0">
                <a:solidFill>
                  <a:srgbClr val="071023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analysis scope, the Infosys_FoodTrends project can continue to provide more</a:t>
            </a:r>
            <a:br>
              <a:rPr lang="en-US" sz="1350" dirty="0">
                <a:solidFill>
                  <a:srgbClr val="071023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350" dirty="0">
                <a:solidFill>
                  <a:srgbClr val="071023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comprehensive and impactful insights to drive informed business decisions.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0" y="476250"/>
            <a:ext cx="5619750" cy="5905500"/>
          </a:xfrm>
          <a:prstGeom prst="roundRect">
            <a:avLst/>
          </a:prstGeom>
          <a:solidFill>
            <a:srgbClr val="B9D5B1"/>
          </a:solidFill>
          <a:ln>
            <a:miter lim="800000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food industry data analytics"/>
          <p:cNvPicPr>
            <a:picLocks noChangeAspect="1"/>
          </p:cNvPicPr>
          <p:nvPr/>
        </p:nvPicPr>
        <p:blipFill>
          <a:blip r:embed="rId3"/>
          <a:srcRect l="21201" r="21201"/>
          <a:stretch/>
        </p:blipFill>
        <p:spPr>
          <a:xfrm>
            <a:off x="6096000" y="476250"/>
            <a:ext cx="5619750" cy="5905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1013" y="2212479"/>
            <a:ext cx="5133975" cy="48175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3794"/>
              </a:lnSpc>
            </a:pPr>
            <a:r>
              <a:rPr lang="en-US" sz="3563" kern="0" spc="36" dirty="0">
                <a:solidFill>
                  <a:srgbClr val="F5F6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Conclusion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90513" y="2825204"/>
            <a:ext cx="5514975" cy="179189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2016"/>
              </a:lnSpc>
              <a:spcBef>
                <a:spcPts val="1011"/>
              </a:spcBef>
            </a:pPr>
            <a:r>
              <a:rPr lang="en-US" sz="144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The Infosys_FoodTrends project highlights how</a:t>
            </a:r>
            <a:br>
              <a:rPr lang="en-US" sz="144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44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data analytics can be effectively used to</a:t>
            </a:r>
            <a:br>
              <a:rPr lang="en-US" sz="144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44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understand evolving customer preferences in</a:t>
            </a:r>
            <a:br>
              <a:rPr lang="en-US" sz="144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44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the dynamic food and beverage industry. The</a:t>
            </a:r>
            <a:br>
              <a:rPr lang="en-US" sz="144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44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insights derived from the analysis support</a:t>
            </a:r>
            <a:br>
              <a:rPr lang="en-US" sz="144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44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informed decision-making and lead to improved</a:t>
            </a:r>
            <a:br>
              <a:rPr lang="en-US" sz="144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440" dirty="0">
                <a:solidFill>
                  <a:srgbClr val="FFFFFF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business outcomes for food businesses.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01525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02729"/>
            <a:ext cx="11334750" cy="48175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3794"/>
              </a:lnSpc>
            </a:pPr>
            <a:r>
              <a:rPr lang="en-US" sz="3563" kern="0" spc="36" dirty="0">
                <a:solidFill>
                  <a:srgbClr val="F5F6F2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Acknowledgement &amp; References</a:t>
            </a:r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476250" y="1571625"/>
            <a:ext cx="5524500" cy="4561756"/>
          </a:xfrm>
          <a:prstGeom prst="rect">
            <a:avLst/>
          </a:prstGeom>
          <a:solidFill>
            <a:srgbClr val="B9D5B1"/>
          </a:solidFill>
          <a:ln>
            <a:miter lim="800000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762000" y="1803053"/>
            <a:ext cx="5143500" cy="22845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99"/>
              </a:lnSpc>
            </a:pPr>
            <a:r>
              <a:rPr lang="en-US" sz="2000" dirty="0">
                <a:solidFill>
                  <a:srgbClr val="071023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Acknowledgement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62001" y="2548086"/>
            <a:ext cx="4853796" cy="227841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>
              <a:lnSpc>
                <a:spcPts val="1470"/>
              </a:lnSpc>
              <a:spcBef>
                <a:spcPts val="799"/>
              </a:spcBef>
            </a:pPr>
            <a:r>
              <a:rPr lang="en-US" sz="1400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I would like to express my sincere gratitude to my mentor for</a:t>
            </a:r>
            <a:br>
              <a:rPr lang="en-US" sz="1400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400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their valuable guidance and continuous support throughout</a:t>
            </a:r>
            <a:br>
              <a:rPr lang="en-US" sz="1400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400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this project.</a:t>
            </a:r>
          </a:p>
          <a:p>
            <a:pPr>
              <a:lnSpc>
                <a:spcPts val="1470"/>
              </a:lnSpc>
              <a:spcBef>
                <a:spcPts val="799"/>
              </a:spcBef>
            </a:pPr>
            <a:r>
              <a:rPr lang="en-US" sz="1400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I also thank the Infosys team for providing the opportunity</a:t>
            </a:r>
            <a:br>
              <a:rPr lang="en-US" sz="1400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400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and learning environment to work on this project.</a:t>
            </a:r>
            <a:br>
              <a:rPr lang="en-US" sz="1400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400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Special thanks to Kaggle and the data contributors for making the dataset publicly available.  </a:t>
            </a:r>
            <a:endParaRPr lang="en-US" sz="1400" dirty="0"/>
          </a:p>
          <a:p>
            <a:pPr algn="l">
              <a:lnSpc>
                <a:spcPts val="1470"/>
              </a:lnSpc>
              <a:spcBef>
                <a:spcPts val="799"/>
              </a:spcBef>
            </a:pP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191250" y="1571625"/>
            <a:ext cx="5524500" cy="4561756"/>
          </a:xfrm>
          <a:prstGeom prst="rect">
            <a:avLst/>
          </a:prstGeom>
          <a:solidFill>
            <a:srgbClr val="F66A2E"/>
          </a:solidFill>
          <a:ln>
            <a:miter lim="800000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477000" y="1803053"/>
            <a:ext cx="5143500" cy="22845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99"/>
              </a:lnSpc>
            </a:pPr>
            <a:r>
              <a:rPr lang="en-US" sz="2000" dirty="0">
                <a:solidFill>
                  <a:srgbClr val="071023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References  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477000" y="2134939"/>
            <a:ext cx="5143500" cy="359300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>
              <a:lnSpc>
                <a:spcPts val="1470"/>
              </a:lnSpc>
              <a:spcBef>
                <a:spcPts val="799"/>
              </a:spcBef>
            </a:pPr>
            <a:endParaRPr lang="en-US" sz="1500" dirty="0">
              <a:solidFill>
                <a:srgbClr val="000000">
                  <a:alpha val="80000"/>
                </a:srgbClr>
              </a:solidFill>
              <a:latin typeface="Space Mono Regular" pitchFamily="34" charset="0"/>
              <a:ea typeface="Space Mono Regular" pitchFamily="34" charset="-122"/>
              <a:cs typeface="Space Mono Regular" pitchFamily="34" charset="-120"/>
            </a:endParaRPr>
          </a:p>
          <a:p>
            <a:pPr>
              <a:lnSpc>
                <a:spcPts val="1470"/>
              </a:lnSpc>
              <a:spcBef>
                <a:spcPts val="799"/>
              </a:spcBef>
            </a:pPr>
            <a:r>
              <a:rPr lang="en-US" sz="1500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Restaurants Dataset, Kaggle</a:t>
            </a:r>
            <a:br>
              <a:rPr lang="en-US" sz="1500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</a:br>
            <a:r>
              <a:rPr lang="en-US" sz="1500" u="sng" dirty="0">
                <a:solidFill>
                  <a:srgbClr val="1199B5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https://www.kaggle.com/datasets/yashsahu02/zomato-</a:t>
            </a:r>
            <a:br>
              <a:rPr lang="en-US" sz="1500" u="sng" dirty="0">
                <a:solidFill>
                  <a:srgbClr val="1199B5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US" sz="1500" u="sng" dirty="0">
                <a:solidFill>
                  <a:srgbClr val="1199B5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restaurants-dataset</a:t>
            </a:r>
            <a:endParaRPr lang="en-US" sz="1500" u="sng" dirty="0">
              <a:solidFill>
                <a:srgbClr val="1199B5"/>
              </a:solidFill>
              <a:latin typeface="Space Mono Regular" pitchFamily="34" charset="0"/>
              <a:ea typeface="Space Mono Regular" pitchFamily="34" charset="-122"/>
              <a:cs typeface="Space Mono Regular" pitchFamily="34" charset="-120"/>
            </a:endParaRPr>
          </a:p>
          <a:p>
            <a:pPr>
              <a:lnSpc>
                <a:spcPts val="1470"/>
              </a:lnSpc>
              <a:spcBef>
                <a:spcPts val="799"/>
              </a:spcBef>
            </a:pPr>
            <a:endParaRPr lang="en-US" sz="1500" u="sng" dirty="0">
              <a:solidFill>
                <a:srgbClr val="1199B5"/>
              </a:solidFill>
              <a:latin typeface="Space Mono Regular" pitchFamily="34" charset="0"/>
              <a:ea typeface="Space Mono Regular" pitchFamily="34" charset="-122"/>
            </a:endParaRPr>
          </a:p>
          <a:p>
            <a:pPr>
              <a:lnSpc>
                <a:spcPts val="1470"/>
              </a:lnSpc>
              <a:spcBef>
                <a:spcPts val="799"/>
              </a:spcBef>
            </a:pPr>
            <a:r>
              <a:rPr lang="en-US" sz="1500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Zomato platform (for domain understanding)</a:t>
            </a:r>
            <a:endParaRPr lang="en-US" sz="1500" dirty="0"/>
          </a:p>
          <a:p>
            <a:pPr>
              <a:lnSpc>
                <a:spcPts val="1470"/>
              </a:lnSpc>
              <a:spcBef>
                <a:spcPts val="799"/>
              </a:spcBef>
            </a:pPr>
            <a:endParaRPr lang="en-US" sz="1500" dirty="0"/>
          </a:p>
          <a:p>
            <a:pPr>
              <a:lnSpc>
                <a:spcPts val="1470"/>
              </a:lnSpc>
              <a:spcBef>
                <a:spcPts val="799"/>
              </a:spcBef>
            </a:pPr>
            <a:r>
              <a:rPr lang="en-US" sz="1500" dirty="0">
                <a:solidFill>
                  <a:srgbClr val="000000">
                    <a:alpha val="80000"/>
                  </a:srgbClr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Project dashboards and analysis created during the study     </a:t>
            </a:r>
            <a:endParaRPr lang="en-US" sz="1500" dirty="0"/>
          </a:p>
          <a:p>
            <a:pPr>
              <a:lnSpc>
                <a:spcPts val="1470"/>
              </a:lnSpc>
              <a:spcBef>
                <a:spcPts val="799"/>
              </a:spcBef>
            </a:pPr>
            <a:endParaRPr lang="en-US" dirty="0"/>
          </a:p>
          <a:p>
            <a:pPr algn="l">
              <a:lnSpc>
                <a:spcPts val="1470"/>
              </a:lnSpc>
              <a:spcBef>
                <a:spcPts val="799"/>
              </a:spcBef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81925" y="476250"/>
            <a:ext cx="3933825" cy="5905500"/>
          </a:xfrm>
          <a:prstGeom prst="roundRect">
            <a:avLst/>
          </a:prstGeom>
          <a:solidFill>
            <a:srgbClr val="B9D5B1"/>
          </a:solidFill>
          <a:ln>
            <a:miter lim="800000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corporate boardroom presentation"/>
          <p:cNvPicPr>
            <a:picLocks noChangeAspect="1"/>
          </p:cNvPicPr>
          <p:nvPr/>
        </p:nvPicPr>
        <p:blipFill>
          <a:blip r:embed="rId3"/>
          <a:srcRect l="27810" r="27810"/>
          <a:stretch/>
        </p:blipFill>
        <p:spPr>
          <a:xfrm>
            <a:off x="7781925" y="476250"/>
            <a:ext cx="3933825" cy="5905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4981" y="2357712"/>
            <a:ext cx="5308513" cy="21425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2268"/>
              </a:lnSpc>
            </a:pPr>
            <a:r>
              <a:rPr lang="en-US" sz="5000" dirty="0">
                <a:solidFill>
                  <a:srgbClr val="F5F6F2"/>
                </a:solidFill>
                <a:latin typeface="Space Mono Regular" pitchFamily="34" charset="0"/>
                <a:ea typeface="Space Mono Regular" pitchFamily="34" charset="-122"/>
                <a:cs typeface="Space Mono Regular" pitchFamily="34" charset="-120"/>
              </a:rPr>
              <a:t>Thank You!</a:t>
            </a:r>
            <a:endParaRPr lang="en-US" sz="5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99B5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936</Words>
  <Application>Microsoft Office PowerPoint</Application>
  <PresentationFormat>Widescreen</PresentationFormat>
  <Paragraphs>96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Poppins Regular</vt:lpstr>
      <vt:lpstr>Space Mono 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Beautiful.ai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Infosys_FoodTrends Understanding Customer Preferences</dc:title>
  <dc:subject>Infosys_FoodTrends Understanding Customer Preferences</dc:subject>
  <dc:creator>jspkqtiewb@ozkadem.edu.pl</dc:creator>
  <cp:lastModifiedBy>Piyush Nitnaware</cp:lastModifiedBy>
  <cp:revision>5</cp:revision>
  <dcterms:created xsi:type="dcterms:W3CDTF">2026-02-10T14:41:02Z</dcterms:created>
  <dcterms:modified xsi:type="dcterms:W3CDTF">2026-02-10T15:04:53Z</dcterms:modified>
</cp:coreProperties>
</file>